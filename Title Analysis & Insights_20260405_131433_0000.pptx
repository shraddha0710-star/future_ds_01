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Josefin Sans Bold" charset="1" panose="00000800000000000000"/>
      <p:regular r:id="rId18"/>
    </p:embeddedFont>
    <p:embeddedFont>
      <p:font typeface="Duru Sans" charset="1" panose="020B0503040500060204"/>
      <p:regular r:id="rId19"/>
    </p:embeddedFont>
    <p:embeddedFont>
      <p:font typeface="Josefin Sans" charset="1" panose="00000500000000000000"/>
      <p:regular r:id="rId20"/>
    </p:embeddedFont>
    <p:embeddedFont>
      <p:font typeface="Canva Sans Bold" charset="1" panose="020B0803030501040103"/>
      <p:regular r:id="rId21"/>
    </p:embeddedFont>
    <p:embeddedFont>
      <p:font typeface="Canva Sans" charset="1" panose="020B0503030501040103"/>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jpeg" Type="http://schemas.openxmlformats.org/officeDocument/2006/relationships/image"/><Relationship Id="rId5" Target="../media/image4.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0" y="828675"/>
            <a:ext cx="18288000" cy="3489326"/>
          </a:xfrm>
          <a:prstGeom prst="rect">
            <a:avLst/>
          </a:prstGeom>
        </p:spPr>
        <p:txBody>
          <a:bodyPr anchor="t" rtlCol="false" tIns="0" lIns="0" bIns="0" rIns="0">
            <a:spAutoFit/>
          </a:bodyPr>
          <a:lstStyle/>
          <a:p>
            <a:pPr algn="ctr">
              <a:lnSpc>
                <a:spcPts val="13999"/>
              </a:lnSpc>
            </a:pPr>
            <a:r>
              <a:rPr lang="en-US" b="true" sz="9999" spc="799">
                <a:solidFill>
                  <a:srgbClr val="000000"/>
                </a:solidFill>
                <a:latin typeface="Josefin Sans Bold"/>
                <a:ea typeface="Josefin Sans Bold"/>
                <a:cs typeface="Josefin Sans Bold"/>
                <a:sym typeface="Josefin Sans Bold"/>
              </a:rPr>
              <a:t>TITLE: ANALYSIS &amp; INSIGHTS</a:t>
            </a:r>
          </a:p>
        </p:txBody>
      </p:sp>
      <p:sp>
        <p:nvSpPr>
          <p:cNvPr name="TextBox 3" id="3"/>
          <p:cNvSpPr txBox="true"/>
          <p:nvPr/>
        </p:nvSpPr>
        <p:spPr>
          <a:xfrm rot="0">
            <a:off x="329803" y="6106523"/>
            <a:ext cx="17628394" cy="2680969"/>
          </a:xfrm>
          <a:prstGeom prst="rect">
            <a:avLst/>
          </a:prstGeom>
        </p:spPr>
        <p:txBody>
          <a:bodyPr anchor="t" rtlCol="false" tIns="0" lIns="0" bIns="0" rIns="0">
            <a:spAutoFit/>
          </a:bodyPr>
          <a:lstStyle/>
          <a:p>
            <a:pPr algn="ctr">
              <a:lnSpc>
                <a:spcPts val="10780"/>
              </a:lnSpc>
            </a:pPr>
            <a:r>
              <a:rPr lang="en-US" b="true" sz="7700" spc="539">
                <a:solidFill>
                  <a:srgbClr val="000000"/>
                </a:solidFill>
                <a:latin typeface="Josefin Sans Bold"/>
                <a:ea typeface="Josefin Sans Bold"/>
                <a:cs typeface="Josefin Sans Bold"/>
                <a:sym typeface="Josefin Sans Bold"/>
              </a:rPr>
              <a:t>“ANALYZING SALES DATA FOR STRATEGIC DECISION MAKING”</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45809" y="537857"/>
            <a:ext cx="643845" cy="643845"/>
          </a:xfrm>
          <a:custGeom>
            <a:avLst/>
            <a:gdLst/>
            <a:ahLst/>
            <a:cxnLst/>
            <a:rect r="r" b="b" t="t" l="l"/>
            <a:pathLst>
              <a:path h="643845" w="643845">
                <a:moveTo>
                  <a:pt x="0" y="0"/>
                </a:moveTo>
                <a:lnTo>
                  <a:pt x="643846" y="0"/>
                </a:lnTo>
                <a:lnTo>
                  <a:pt x="643846" y="643846"/>
                </a:lnTo>
                <a:lnTo>
                  <a:pt x="0" y="6438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2063632" y="1400282"/>
            <a:ext cx="10455565" cy="10387108"/>
            <a:chOff x="0" y="0"/>
            <a:chExt cx="818157" cy="812800"/>
          </a:xfrm>
        </p:grpSpPr>
        <p:sp>
          <p:nvSpPr>
            <p:cNvPr name="Freeform 4" id="4"/>
            <p:cNvSpPr/>
            <p:nvPr/>
          </p:nvSpPr>
          <p:spPr>
            <a:xfrm flipH="false" flipV="false" rot="0">
              <a:off x="0" y="0"/>
              <a:ext cx="818157" cy="812800"/>
            </a:xfrm>
            <a:custGeom>
              <a:avLst/>
              <a:gdLst/>
              <a:ahLst/>
              <a:cxnLst/>
              <a:rect r="r" b="b" t="t" l="l"/>
              <a:pathLst>
                <a:path h="812800" w="818157">
                  <a:moveTo>
                    <a:pt x="409078" y="0"/>
                  </a:moveTo>
                  <a:lnTo>
                    <a:pt x="818157" y="406400"/>
                  </a:lnTo>
                  <a:lnTo>
                    <a:pt x="409078" y="812800"/>
                  </a:lnTo>
                  <a:lnTo>
                    <a:pt x="0" y="406400"/>
                  </a:lnTo>
                  <a:lnTo>
                    <a:pt x="409078" y="0"/>
                  </a:lnTo>
                  <a:close/>
                </a:path>
              </a:pathLst>
            </a:custGeom>
            <a:ln w="38100" cap="sq">
              <a:solidFill>
                <a:srgbClr val="FFC178"/>
              </a:solidFill>
              <a:prstDash val="solid"/>
              <a:miter/>
            </a:ln>
          </p:spPr>
        </p:sp>
        <p:sp>
          <p:nvSpPr>
            <p:cNvPr name="TextBox 5" id="5"/>
            <p:cNvSpPr txBox="true"/>
            <p:nvPr/>
          </p:nvSpPr>
          <p:spPr>
            <a:xfrm>
              <a:off x="140621" y="92075"/>
              <a:ext cx="536915" cy="581025"/>
            </a:xfrm>
            <a:prstGeom prst="rect">
              <a:avLst/>
            </a:prstGeom>
          </p:spPr>
          <p:txBody>
            <a:bodyPr anchor="ctr" rtlCol="false" tIns="50800" lIns="50800" bIns="50800" rIns="50800"/>
            <a:lstStyle/>
            <a:p>
              <a:pPr algn="ctr">
                <a:lnSpc>
                  <a:spcPts val="3220"/>
                </a:lnSpc>
              </a:pPr>
            </a:p>
          </p:txBody>
        </p:sp>
      </p:grpSp>
      <p:grpSp>
        <p:nvGrpSpPr>
          <p:cNvPr name="Group 6" id="6"/>
          <p:cNvGrpSpPr/>
          <p:nvPr/>
        </p:nvGrpSpPr>
        <p:grpSpPr>
          <a:xfrm rot="0">
            <a:off x="4485250" y="1422473"/>
            <a:ext cx="3906682" cy="3906682"/>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solidFill>
              <a:srgbClr val="FF8A00"/>
            </a:solidFill>
          </p:spPr>
        </p:sp>
        <p:sp>
          <p:nvSpPr>
            <p:cNvPr name="TextBox 8" id="8"/>
            <p:cNvSpPr txBox="true"/>
            <p:nvPr/>
          </p:nvSpPr>
          <p:spPr>
            <a:xfrm>
              <a:off x="139700" y="92075"/>
              <a:ext cx="533400" cy="581025"/>
            </a:xfrm>
            <a:prstGeom prst="rect">
              <a:avLst/>
            </a:prstGeom>
          </p:spPr>
          <p:txBody>
            <a:bodyPr anchor="ctr" rtlCol="false" tIns="50800" lIns="50800" bIns="50800" rIns="50800"/>
            <a:lstStyle/>
            <a:p>
              <a:pPr algn="ctr">
                <a:lnSpc>
                  <a:spcPts val="3220"/>
                </a:lnSpc>
              </a:pPr>
            </a:p>
          </p:txBody>
        </p:sp>
      </p:grpSp>
      <p:sp>
        <p:nvSpPr>
          <p:cNvPr name="TextBox 9" id="9"/>
          <p:cNvSpPr txBox="true"/>
          <p:nvPr/>
        </p:nvSpPr>
        <p:spPr>
          <a:xfrm rot="0">
            <a:off x="8391933" y="3169471"/>
            <a:ext cx="9424154" cy="6556123"/>
          </a:xfrm>
          <a:prstGeom prst="rect">
            <a:avLst/>
          </a:prstGeom>
        </p:spPr>
        <p:txBody>
          <a:bodyPr anchor="t" rtlCol="false" tIns="0" lIns="0" bIns="0" rIns="0">
            <a:spAutoFit/>
          </a:bodyPr>
          <a:lstStyle/>
          <a:p>
            <a:pPr algn="just">
              <a:lnSpc>
                <a:spcPts val="4009"/>
              </a:lnSpc>
            </a:pPr>
            <a:r>
              <a:rPr lang="en-US" sz="2506" spc="250">
                <a:solidFill>
                  <a:srgbClr val="000000"/>
                </a:solidFill>
                <a:latin typeface="Duru Sans"/>
                <a:ea typeface="Duru Sans"/>
                <a:cs typeface="Duru Sans"/>
                <a:sym typeface="Duru Sans"/>
              </a:rPr>
              <a:t>This report focuses on analyzing business sales data to understand revenue trends, product performance, and regional sales distribution. The analysis aims to identify key patterns and generate insights that can support better business decisions.</a:t>
            </a:r>
          </a:p>
          <a:p>
            <a:pPr algn="just">
              <a:lnSpc>
                <a:spcPts val="4009"/>
              </a:lnSpc>
            </a:pPr>
          </a:p>
          <a:p>
            <a:pPr algn="just" marL="0" indent="0" lvl="0">
              <a:lnSpc>
                <a:spcPts val="4009"/>
              </a:lnSpc>
            </a:pPr>
            <a:r>
              <a:rPr lang="en-US" sz="2506" spc="250">
                <a:solidFill>
                  <a:srgbClr val="000000"/>
                </a:solidFill>
                <a:latin typeface="Duru Sans"/>
                <a:ea typeface="Duru Sans"/>
                <a:cs typeface="Duru Sans"/>
                <a:sym typeface="Duru Sans"/>
              </a:rPr>
              <a:t>By examining sales and profit data, the report highlights top-performing products, high-revenue categories, and areas where improvement is needed. This helps in understanding how the business is performing and where it can grow further.</a:t>
            </a:r>
          </a:p>
        </p:txBody>
      </p:sp>
      <p:sp>
        <p:nvSpPr>
          <p:cNvPr name="TextBox 10" id="10"/>
          <p:cNvSpPr txBox="true"/>
          <p:nvPr/>
        </p:nvSpPr>
        <p:spPr>
          <a:xfrm rot="0">
            <a:off x="1672478" y="650902"/>
            <a:ext cx="5314148" cy="266700"/>
          </a:xfrm>
          <a:prstGeom prst="rect">
            <a:avLst/>
          </a:prstGeom>
        </p:spPr>
        <p:txBody>
          <a:bodyPr anchor="t" rtlCol="false" tIns="0" lIns="0" bIns="0" rIns="0">
            <a:spAutoFit/>
          </a:bodyPr>
          <a:lstStyle/>
          <a:p>
            <a:pPr algn="l" marL="0" indent="0" lvl="0">
              <a:lnSpc>
                <a:spcPts val="2100"/>
              </a:lnSpc>
              <a:spcBef>
                <a:spcPct val="0"/>
              </a:spcBef>
            </a:pPr>
            <a:r>
              <a:rPr lang="en-US" sz="1500" spc="150">
                <a:solidFill>
                  <a:srgbClr val="000000"/>
                </a:solidFill>
                <a:latin typeface="Duru Sans"/>
                <a:ea typeface="Duru Sans"/>
                <a:cs typeface="Duru Sans"/>
                <a:sym typeface="Duru Sans"/>
              </a:rPr>
              <a:t>FUTURE INTERNS – SALES ANALYSIS PROJECT</a:t>
            </a:r>
          </a:p>
        </p:txBody>
      </p:sp>
      <p:sp>
        <p:nvSpPr>
          <p:cNvPr name="TextBox 11" id="11"/>
          <p:cNvSpPr txBox="true"/>
          <p:nvPr/>
        </p:nvSpPr>
        <p:spPr>
          <a:xfrm rot="0">
            <a:off x="7648867" y="1334103"/>
            <a:ext cx="10639133" cy="1139722"/>
          </a:xfrm>
          <a:prstGeom prst="rect">
            <a:avLst/>
          </a:prstGeom>
        </p:spPr>
        <p:txBody>
          <a:bodyPr anchor="t" rtlCol="false" tIns="0" lIns="0" bIns="0" rIns="0">
            <a:spAutoFit/>
          </a:bodyPr>
          <a:lstStyle/>
          <a:p>
            <a:pPr algn="just" marL="0" indent="0" lvl="0">
              <a:lnSpc>
                <a:spcPts val="8500"/>
              </a:lnSpc>
            </a:pPr>
            <a:r>
              <a:rPr lang="en-US" b="true" sz="8500" spc="680">
                <a:solidFill>
                  <a:srgbClr val="000000"/>
                </a:solidFill>
                <a:latin typeface="Josefin Sans Bold"/>
                <a:ea typeface="Josefin Sans Bold"/>
                <a:cs typeface="Josefin Sans Bold"/>
                <a:sym typeface="Josefin Sans Bold"/>
              </a:rPr>
              <a:t>INTRODUCTION</a:t>
            </a:r>
          </a:p>
        </p:txBody>
      </p:sp>
      <p:grpSp>
        <p:nvGrpSpPr>
          <p:cNvPr name="Group 12" id="12"/>
          <p:cNvGrpSpPr/>
          <p:nvPr/>
        </p:nvGrpSpPr>
        <p:grpSpPr>
          <a:xfrm rot="0">
            <a:off x="845809" y="2896341"/>
            <a:ext cx="5246370" cy="5246370"/>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blipFill>
              <a:blip r:embed="rId4"/>
              <a:stretch>
                <a:fillRect l="0" t="0" r="-49812" b="0"/>
              </a:stretch>
            </a:blipFill>
          </p:spPr>
        </p:sp>
      </p:grpSp>
      <p:grpSp>
        <p:nvGrpSpPr>
          <p:cNvPr name="Group 14" id="14"/>
          <p:cNvGrpSpPr/>
          <p:nvPr/>
        </p:nvGrpSpPr>
        <p:grpSpPr>
          <a:xfrm rot="0">
            <a:off x="4474233" y="5698879"/>
            <a:ext cx="3917700" cy="3917700"/>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blipFill>
              <a:blip r:embed="rId5"/>
              <a:stretch>
                <a:fillRect l="-24906" t="0" r="-24906" b="0"/>
              </a:stretch>
            </a:blipFill>
          </p:spPr>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9E9E9"/>
        </a:solidFill>
      </p:bgPr>
    </p:bg>
    <p:spTree>
      <p:nvGrpSpPr>
        <p:cNvPr id="1" name=""/>
        <p:cNvGrpSpPr/>
        <p:nvPr/>
      </p:nvGrpSpPr>
      <p:grpSpPr>
        <a:xfrm>
          <a:off x="0" y="0"/>
          <a:ext cx="0" cy="0"/>
          <a:chOff x="0" y="0"/>
          <a:chExt cx="0" cy="0"/>
        </a:xfrm>
      </p:grpSpPr>
      <p:grpSp>
        <p:nvGrpSpPr>
          <p:cNvPr name="Group 2" id="2"/>
          <p:cNvGrpSpPr/>
          <p:nvPr/>
        </p:nvGrpSpPr>
        <p:grpSpPr>
          <a:xfrm rot="0">
            <a:off x="-66208" y="0"/>
            <a:ext cx="6235384" cy="10287000"/>
            <a:chOff x="0" y="0"/>
            <a:chExt cx="966024" cy="1593725"/>
          </a:xfrm>
        </p:grpSpPr>
        <p:sp>
          <p:nvSpPr>
            <p:cNvPr name="Freeform 3" id="3"/>
            <p:cNvSpPr/>
            <p:nvPr/>
          </p:nvSpPr>
          <p:spPr>
            <a:xfrm flipH="false" flipV="false" rot="0">
              <a:off x="0" y="0"/>
              <a:ext cx="966024" cy="1593725"/>
            </a:xfrm>
            <a:custGeom>
              <a:avLst/>
              <a:gdLst/>
              <a:ahLst/>
              <a:cxnLst/>
              <a:rect r="r" b="b" t="t" l="l"/>
              <a:pathLst>
                <a:path h="1593725" w="966024">
                  <a:moveTo>
                    <a:pt x="0" y="0"/>
                  </a:moveTo>
                  <a:lnTo>
                    <a:pt x="966024" y="0"/>
                  </a:lnTo>
                  <a:lnTo>
                    <a:pt x="966024" y="1593725"/>
                  </a:lnTo>
                  <a:lnTo>
                    <a:pt x="0" y="1593725"/>
                  </a:lnTo>
                  <a:close/>
                </a:path>
              </a:pathLst>
            </a:custGeom>
            <a:blipFill>
              <a:blip r:embed="rId2"/>
              <a:stretch>
                <a:fillRect l="-4992" t="0" r="-4992" b="0"/>
              </a:stretch>
            </a:blipFill>
          </p:spPr>
        </p:sp>
      </p:grpSp>
      <p:sp>
        <p:nvSpPr>
          <p:cNvPr name="TextBox 4" id="4"/>
          <p:cNvSpPr txBox="true"/>
          <p:nvPr/>
        </p:nvSpPr>
        <p:spPr>
          <a:xfrm rot="0">
            <a:off x="550514" y="1032012"/>
            <a:ext cx="5115170" cy="1079475"/>
          </a:xfrm>
          <a:prstGeom prst="rect">
            <a:avLst/>
          </a:prstGeom>
        </p:spPr>
        <p:txBody>
          <a:bodyPr anchor="t" rtlCol="false" tIns="0" lIns="0" bIns="0" rIns="0">
            <a:spAutoFit/>
          </a:bodyPr>
          <a:lstStyle/>
          <a:p>
            <a:pPr algn="l" marL="0" indent="0" lvl="0">
              <a:lnSpc>
                <a:spcPts val="8000"/>
              </a:lnSpc>
            </a:pPr>
            <a:r>
              <a:rPr lang="en-US" b="true" sz="8000" spc="640">
                <a:solidFill>
                  <a:srgbClr val="FFFFFF"/>
                </a:solidFill>
                <a:latin typeface="Josefin Sans Bold"/>
                <a:ea typeface="Josefin Sans Bold"/>
                <a:cs typeface="Josefin Sans Bold"/>
                <a:sym typeface="Josefin Sans Bold"/>
              </a:rPr>
              <a:t>AGENDA</a:t>
            </a:r>
          </a:p>
        </p:txBody>
      </p:sp>
      <p:grpSp>
        <p:nvGrpSpPr>
          <p:cNvPr name="Group 5" id="5"/>
          <p:cNvGrpSpPr/>
          <p:nvPr/>
        </p:nvGrpSpPr>
        <p:grpSpPr>
          <a:xfrm rot="0">
            <a:off x="-4484758" y="2364034"/>
            <a:ext cx="7070598" cy="7024304"/>
            <a:chOff x="0" y="0"/>
            <a:chExt cx="818157" cy="812800"/>
          </a:xfrm>
        </p:grpSpPr>
        <p:sp>
          <p:nvSpPr>
            <p:cNvPr name="Freeform 6" id="6"/>
            <p:cNvSpPr/>
            <p:nvPr/>
          </p:nvSpPr>
          <p:spPr>
            <a:xfrm flipH="false" flipV="false" rot="0">
              <a:off x="0" y="0"/>
              <a:ext cx="818157" cy="812800"/>
            </a:xfrm>
            <a:custGeom>
              <a:avLst/>
              <a:gdLst/>
              <a:ahLst/>
              <a:cxnLst/>
              <a:rect r="r" b="b" t="t" l="l"/>
              <a:pathLst>
                <a:path h="812800" w="818157">
                  <a:moveTo>
                    <a:pt x="409078" y="0"/>
                  </a:moveTo>
                  <a:lnTo>
                    <a:pt x="818157" y="406400"/>
                  </a:lnTo>
                  <a:lnTo>
                    <a:pt x="409078" y="812800"/>
                  </a:lnTo>
                  <a:lnTo>
                    <a:pt x="0" y="406400"/>
                  </a:lnTo>
                  <a:lnTo>
                    <a:pt x="409078" y="0"/>
                  </a:lnTo>
                  <a:close/>
                </a:path>
              </a:pathLst>
            </a:custGeom>
            <a:ln w="38100" cap="sq">
              <a:solidFill>
                <a:srgbClr val="FFC178"/>
              </a:solidFill>
              <a:prstDash val="solid"/>
              <a:miter/>
            </a:ln>
          </p:spPr>
        </p:sp>
        <p:sp>
          <p:nvSpPr>
            <p:cNvPr name="TextBox 7" id="7"/>
            <p:cNvSpPr txBox="true"/>
            <p:nvPr/>
          </p:nvSpPr>
          <p:spPr>
            <a:xfrm>
              <a:off x="140621" y="92075"/>
              <a:ext cx="536915" cy="581025"/>
            </a:xfrm>
            <a:prstGeom prst="rect">
              <a:avLst/>
            </a:prstGeom>
          </p:spPr>
          <p:txBody>
            <a:bodyPr anchor="ctr" rtlCol="false" tIns="50800" lIns="50800" bIns="50800" rIns="50800"/>
            <a:lstStyle/>
            <a:p>
              <a:pPr algn="ctr">
                <a:lnSpc>
                  <a:spcPts val="3220"/>
                </a:lnSpc>
              </a:pPr>
            </a:p>
          </p:txBody>
        </p:sp>
      </p:grpSp>
      <p:sp>
        <p:nvSpPr>
          <p:cNvPr name="Freeform 8" id="8"/>
          <p:cNvSpPr/>
          <p:nvPr/>
        </p:nvSpPr>
        <p:spPr>
          <a:xfrm flipH="false" flipV="false" rot="0">
            <a:off x="2585841" y="7846799"/>
            <a:ext cx="931287" cy="931287"/>
          </a:xfrm>
          <a:custGeom>
            <a:avLst/>
            <a:gdLst/>
            <a:ahLst/>
            <a:cxnLst/>
            <a:rect r="r" b="b" t="t" l="l"/>
            <a:pathLst>
              <a:path h="931287" w="931287">
                <a:moveTo>
                  <a:pt x="0" y="0"/>
                </a:moveTo>
                <a:lnTo>
                  <a:pt x="931286" y="0"/>
                </a:lnTo>
                <a:lnTo>
                  <a:pt x="931286" y="931287"/>
                </a:lnTo>
                <a:lnTo>
                  <a:pt x="0" y="93128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9" id="9"/>
          <p:cNvSpPr txBox="true"/>
          <p:nvPr/>
        </p:nvSpPr>
        <p:spPr>
          <a:xfrm rot="0">
            <a:off x="361084" y="8956136"/>
            <a:ext cx="5380800" cy="871566"/>
          </a:xfrm>
          <a:prstGeom prst="rect">
            <a:avLst/>
          </a:prstGeom>
        </p:spPr>
        <p:txBody>
          <a:bodyPr anchor="t" rtlCol="false" tIns="0" lIns="0" bIns="0" rIns="0">
            <a:spAutoFit/>
          </a:bodyPr>
          <a:lstStyle/>
          <a:p>
            <a:pPr algn="ctr" marL="0" indent="0" lvl="0">
              <a:lnSpc>
                <a:spcPts val="3535"/>
              </a:lnSpc>
              <a:spcBef>
                <a:spcPct val="0"/>
              </a:spcBef>
            </a:pPr>
            <a:r>
              <a:rPr lang="en-US" sz="2525" spc="252">
                <a:solidFill>
                  <a:srgbClr val="FFFFFF"/>
                </a:solidFill>
                <a:latin typeface="Duru Sans"/>
                <a:ea typeface="Duru Sans"/>
                <a:cs typeface="Duru Sans"/>
                <a:sym typeface="Duru Sans"/>
              </a:rPr>
              <a:t>FUTURE INTERNS – SALES ANALYSIS PROJECT</a:t>
            </a:r>
          </a:p>
        </p:txBody>
      </p:sp>
      <p:grpSp>
        <p:nvGrpSpPr>
          <p:cNvPr name="Group 10" id="10"/>
          <p:cNvGrpSpPr/>
          <p:nvPr/>
        </p:nvGrpSpPr>
        <p:grpSpPr>
          <a:xfrm rot="0">
            <a:off x="-389555" y="2364034"/>
            <a:ext cx="3906682" cy="3906682"/>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solidFill>
              <a:srgbClr val="FF8A00"/>
            </a:solidFill>
          </p:spPr>
        </p:sp>
        <p:sp>
          <p:nvSpPr>
            <p:cNvPr name="TextBox 12" id="12"/>
            <p:cNvSpPr txBox="true"/>
            <p:nvPr/>
          </p:nvSpPr>
          <p:spPr>
            <a:xfrm>
              <a:off x="139700" y="92075"/>
              <a:ext cx="533400" cy="581025"/>
            </a:xfrm>
            <a:prstGeom prst="rect">
              <a:avLst/>
            </a:prstGeom>
          </p:spPr>
          <p:txBody>
            <a:bodyPr anchor="ctr" rtlCol="false" tIns="50800" lIns="50800" bIns="50800" rIns="50800"/>
            <a:lstStyle/>
            <a:p>
              <a:pPr algn="ctr">
                <a:lnSpc>
                  <a:spcPts val="3220"/>
                </a:lnSpc>
              </a:pPr>
            </a:p>
          </p:txBody>
        </p:sp>
      </p:grpSp>
      <p:sp>
        <p:nvSpPr>
          <p:cNvPr name="TextBox 13" id="13"/>
          <p:cNvSpPr txBox="true"/>
          <p:nvPr/>
        </p:nvSpPr>
        <p:spPr>
          <a:xfrm rot="0">
            <a:off x="6622253" y="1705113"/>
            <a:ext cx="6816910" cy="610235"/>
          </a:xfrm>
          <a:prstGeom prst="rect">
            <a:avLst/>
          </a:prstGeom>
        </p:spPr>
        <p:txBody>
          <a:bodyPr anchor="t" rtlCol="false" tIns="0" lIns="0" bIns="0" rIns="0">
            <a:spAutoFit/>
          </a:bodyPr>
          <a:lstStyle/>
          <a:p>
            <a:pPr algn="just" marL="0" indent="0" lvl="0">
              <a:lnSpc>
                <a:spcPts val="4809"/>
              </a:lnSpc>
            </a:pPr>
            <a:r>
              <a:rPr lang="en-US" sz="3699" spc="258">
                <a:solidFill>
                  <a:srgbClr val="000000"/>
                </a:solidFill>
                <a:latin typeface="Josefin Sans"/>
                <a:ea typeface="Josefin Sans"/>
                <a:cs typeface="Josefin Sans"/>
                <a:sym typeface="Josefin Sans"/>
              </a:rPr>
              <a:t>Introduction </a:t>
            </a:r>
          </a:p>
        </p:txBody>
      </p:sp>
      <p:sp>
        <p:nvSpPr>
          <p:cNvPr name="TextBox 14" id="14"/>
          <p:cNvSpPr txBox="true"/>
          <p:nvPr/>
        </p:nvSpPr>
        <p:spPr>
          <a:xfrm rot="0">
            <a:off x="6622253" y="841512"/>
            <a:ext cx="6816910" cy="892175"/>
          </a:xfrm>
          <a:prstGeom prst="rect">
            <a:avLst/>
          </a:prstGeom>
        </p:spPr>
        <p:txBody>
          <a:bodyPr anchor="t" rtlCol="false" tIns="0" lIns="0" bIns="0" rIns="0">
            <a:spAutoFit/>
          </a:bodyPr>
          <a:lstStyle/>
          <a:p>
            <a:pPr algn="l" marL="0" indent="0" lvl="0">
              <a:lnSpc>
                <a:spcPts val="7149"/>
              </a:lnSpc>
            </a:pPr>
            <a:r>
              <a:rPr lang="en-US" b="true" sz="5499" spc="384">
                <a:solidFill>
                  <a:srgbClr val="FF8A00"/>
                </a:solidFill>
                <a:latin typeface="Josefin Sans Bold"/>
                <a:ea typeface="Josefin Sans Bold"/>
                <a:cs typeface="Josefin Sans Bold"/>
                <a:sym typeface="Josefin Sans Bold"/>
              </a:rPr>
              <a:t>01</a:t>
            </a:r>
          </a:p>
        </p:txBody>
      </p:sp>
      <p:sp>
        <p:nvSpPr>
          <p:cNvPr name="TextBox 15" id="15"/>
          <p:cNvSpPr txBox="true"/>
          <p:nvPr/>
        </p:nvSpPr>
        <p:spPr>
          <a:xfrm rot="0">
            <a:off x="6622253" y="3473397"/>
            <a:ext cx="6816910" cy="610235"/>
          </a:xfrm>
          <a:prstGeom prst="rect">
            <a:avLst/>
          </a:prstGeom>
        </p:spPr>
        <p:txBody>
          <a:bodyPr anchor="t" rtlCol="false" tIns="0" lIns="0" bIns="0" rIns="0">
            <a:spAutoFit/>
          </a:bodyPr>
          <a:lstStyle/>
          <a:p>
            <a:pPr algn="just" marL="0" indent="0" lvl="0">
              <a:lnSpc>
                <a:spcPts val="4809"/>
              </a:lnSpc>
            </a:pPr>
            <a:r>
              <a:rPr lang="en-US" sz="3699" spc="258">
                <a:solidFill>
                  <a:srgbClr val="000000"/>
                </a:solidFill>
                <a:latin typeface="Josefin Sans"/>
                <a:ea typeface="Josefin Sans"/>
                <a:cs typeface="Josefin Sans"/>
                <a:sym typeface="Josefin Sans"/>
              </a:rPr>
              <a:t>Dataset Overview </a:t>
            </a:r>
          </a:p>
        </p:txBody>
      </p:sp>
      <p:sp>
        <p:nvSpPr>
          <p:cNvPr name="TextBox 16" id="16"/>
          <p:cNvSpPr txBox="true"/>
          <p:nvPr/>
        </p:nvSpPr>
        <p:spPr>
          <a:xfrm rot="0">
            <a:off x="6622253" y="2609797"/>
            <a:ext cx="6816910" cy="892175"/>
          </a:xfrm>
          <a:prstGeom prst="rect">
            <a:avLst/>
          </a:prstGeom>
        </p:spPr>
        <p:txBody>
          <a:bodyPr anchor="t" rtlCol="false" tIns="0" lIns="0" bIns="0" rIns="0">
            <a:spAutoFit/>
          </a:bodyPr>
          <a:lstStyle/>
          <a:p>
            <a:pPr algn="l" marL="0" indent="0" lvl="0">
              <a:lnSpc>
                <a:spcPts val="7149"/>
              </a:lnSpc>
            </a:pPr>
            <a:r>
              <a:rPr lang="en-US" b="true" sz="5499" spc="384">
                <a:solidFill>
                  <a:srgbClr val="FF8A00"/>
                </a:solidFill>
                <a:latin typeface="Josefin Sans Bold"/>
                <a:ea typeface="Josefin Sans Bold"/>
                <a:cs typeface="Josefin Sans Bold"/>
                <a:sym typeface="Josefin Sans Bold"/>
              </a:rPr>
              <a:t>02</a:t>
            </a:r>
          </a:p>
        </p:txBody>
      </p:sp>
      <p:sp>
        <p:nvSpPr>
          <p:cNvPr name="TextBox 17" id="17"/>
          <p:cNvSpPr txBox="true"/>
          <p:nvPr/>
        </p:nvSpPr>
        <p:spPr>
          <a:xfrm rot="0">
            <a:off x="6622253" y="5241682"/>
            <a:ext cx="6816910" cy="610235"/>
          </a:xfrm>
          <a:prstGeom prst="rect">
            <a:avLst/>
          </a:prstGeom>
        </p:spPr>
        <p:txBody>
          <a:bodyPr anchor="t" rtlCol="false" tIns="0" lIns="0" bIns="0" rIns="0">
            <a:spAutoFit/>
          </a:bodyPr>
          <a:lstStyle/>
          <a:p>
            <a:pPr algn="just" marL="0" indent="0" lvl="0">
              <a:lnSpc>
                <a:spcPts val="4809"/>
              </a:lnSpc>
            </a:pPr>
            <a:r>
              <a:rPr lang="en-US" sz="3699" spc="258">
                <a:solidFill>
                  <a:srgbClr val="000000"/>
                </a:solidFill>
                <a:latin typeface="Josefin Sans"/>
                <a:ea typeface="Josefin Sans"/>
                <a:cs typeface="Josefin Sans"/>
                <a:sym typeface="Josefin Sans"/>
              </a:rPr>
              <a:t>Sales performance analysis </a:t>
            </a:r>
          </a:p>
        </p:txBody>
      </p:sp>
      <p:sp>
        <p:nvSpPr>
          <p:cNvPr name="TextBox 18" id="18"/>
          <p:cNvSpPr txBox="true"/>
          <p:nvPr/>
        </p:nvSpPr>
        <p:spPr>
          <a:xfrm rot="0">
            <a:off x="6622253" y="4378082"/>
            <a:ext cx="6816910" cy="892175"/>
          </a:xfrm>
          <a:prstGeom prst="rect">
            <a:avLst/>
          </a:prstGeom>
        </p:spPr>
        <p:txBody>
          <a:bodyPr anchor="t" rtlCol="false" tIns="0" lIns="0" bIns="0" rIns="0">
            <a:spAutoFit/>
          </a:bodyPr>
          <a:lstStyle/>
          <a:p>
            <a:pPr algn="l" marL="0" indent="0" lvl="0">
              <a:lnSpc>
                <a:spcPts val="7149"/>
              </a:lnSpc>
            </a:pPr>
            <a:r>
              <a:rPr lang="en-US" b="true" sz="5499" spc="384">
                <a:solidFill>
                  <a:srgbClr val="FF8A00"/>
                </a:solidFill>
                <a:latin typeface="Josefin Sans Bold"/>
                <a:ea typeface="Josefin Sans Bold"/>
                <a:cs typeface="Josefin Sans Bold"/>
                <a:sym typeface="Josefin Sans Bold"/>
              </a:rPr>
              <a:t>03</a:t>
            </a:r>
          </a:p>
        </p:txBody>
      </p:sp>
      <p:sp>
        <p:nvSpPr>
          <p:cNvPr name="TextBox 19" id="19"/>
          <p:cNvSpPr txBox="true"/>
          <p:nvPr/>
        </p:nvSpPr>
        <p:spPr>
          <a:xfrm rot="0">
            <a:off x="6622253" y="7009966"/>
            <a:ext cx="6816910" cy="610235"/>
          </a:xfrm>
          <a:prstGeom prst="rect">
            <a:avLst/>
          </a:prstGeom>
        </p:spPr>
        <p:txBody>
          <a:bodyPr anchor="t" rtlCol="false" tIns="0" lIns="0" bIns="0" rIns="0">
            <a:spAutoFit/>
          </a:bodyPr>
          <a:lstStyle/>
          <a:p>
            <a:pPr algn="just" marL="0" indent="0" lvl="0">
              <a:lnSpc>
                <a:spcPts val="4809"/>
              </a:lnSpc>
            </a:pPr>
            <a:r>
              <a:rPr lang="en-US" sz="3699" spc="258">
                <a:solidFill>
                  <a:srgbClr val="000000"/>
                </a:solidFill>
                <a:latin typeface="Josefin Sans"/>
                <a:ea typeface="Josefin Sans"/>
                <a:cs typeface="Josefin Sans"/>
                <a:sym typeface="Josefin Sans"/>
              </a:rPr>
              <a:t>Key insights </a:t>
            </a:r>
          </a:p>
        </p:txBody>
      </p:sp>
      <p:sp>
        <p:nvSpPr>
          <p:cNvPr name="TextBox 20" id="20"/>
          <p:cNvSpPr txBox="true"/>
          <p:nvPr/>
        </p:nvSpPr>
        <p:spPr>
          <a:xfrm rot="0">
            <a:off x="6622253" y="6146366"/>
            <a:ext cx="6816910" cy="892175"/>
          </a:xfrm>
          <a:prstGeom prst="rect">
            <a:avLst/>
          </a:prstGeom>
        </p:spPr>
        <p:txBody>
          <a:bodyPr anchor="t" rtlCol="false" tIns="0" lIns="0" bIns="0" rIns="0">
            <a:spAutoFit/>
          </a:bodyPr>
          <a:lstStyle/>
          <a:p>
            <a:pPr algn="l" marL="0" indent="0" lvl="0">
              <a:lnSpc>
                <a:spcPts val="7149"/>
              </a:lnSpc>
            </a:pPr>
            <a:r>
              <a:rPr lang="en-US" b="true" sz="5499" spc="384">
                <a:solidFill>
                  <a:srgbClr val="FF8A00"/>
                </a:solidFill>
                <a:latin typeface="Josefin Sans Bold"/>
                <a:ea typeface="Josefin Sans Bold"/>
                <a:cs typeface="Josefin Sans Bold"/>
                <a:sym typeface="Josefin Sans Bold"/>
              </a:rPr>
              <a:t>04</a:t>
            </a:r>
          </a:p>
        </p:txBody>
      </p:sp>
      <p:sp>
        <p:nvSpPr>
          <p:cNvPr name="TextBox 21" id="21"/>
          <p:cNvSpPr txBox="true"/>
          <p:nvPr/>
        </p:nvSpPr>
        <p:spPr>
          <a:xfrm rot="0">
            <a:off x="6622253" y="8778251"/>
            <a:ext cx="6816910" cy="1219835"/>
          </a:xfrm>
          <a:prstGeom prst="rect">
            <a:avLst/>
          </a:prstGeom>
        </p:spPr>
        <p:txBody>
          <a:bodyPr anchor="t" rtlCol="false" tIns="0" lIns="0" bIns="0" rIns="0">
            <a:spAutoFit/>
          </a:bodyPr>
          <a:lstStyle/>
          <a:p>
            <a:pPr algn="just" marL="0" indent="0" lvl="0">
              <a:lnSpc>
                <a:spcPts val="4809"/>
              </a:lnSpc>
            </a:pPr>
            <a:r>
              <a:rPr lang="en-US" sz="3699" spc="258">
                <a:solidFill>
                  <a:srgbClr val="000000"/>
                </a:solidFill>
                <a:latin typeface="Josefin Sans"/>
                <a:ea typeface="Josefin Sans"/>
                <a:cs typeface="Josefin Sans"/>
                <a:sym typeface="Josefin Sans"/>
              </a:rPr>
              <a:t>Recommendation and conclusion </a:t>
            </a:r>
          </a:p>
        </p:txBody>
      </p:sp>
      <p:sp>
        <p:nvSpPr>
          <p:cNvPr name="TextBox 22" id="22"/>
          <p:cNvSpPr txBox="true"/>
          <p:nvPr/>
        </p:nvSpPr>
        <p:spPr>
          <a:xfrm rot="0">
            <a:off x="6622253" y="7914651"/>
            <a:ext cx="6816910" cy="892175"/>
          </a:xfrm>
          <a:prstGeom prst="rect">
            <a:avLst/>
          </a:prstGeom>
        </p:spPr>
        <p:txBody>
          <a:bodyPr anchor="t" rtlCol="false" tIns="0" lIns="0" bIns="0" rIns="0">
            <a:spAutoFit/>
          </a:bodyPr>
          <a:lstStyle/>
          <a:p>
            <a:pPr algn="l" marL="0" indent="0" lvl="0">
              <a:lnSpc>
                <a:spcPts val="7149"/>
              </a:lnSpc>
            </a:pPr>
            <a:r>
              <a:rPr lang="en-US" b="true" sz="5499" spc="384">
                <a:solidFill>
                  <a:srgbClr val="FF8A00"/>
                </a:solidFill>
                <a:latin typeface="Josefin Sans Bold"/>
                <a:ea typeface="Josefin Sans Bold"/>
                <a:cs typeface="Josefin Sans Bold"/>
                <a:sym typeface="Josefin Sans Bold"/>
              </a:rPr>
              <a:t>05</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41415"/>
        </a:solidFill>
      </p:bgPr>
    </p:bg>
    <p:spTree>
      <p:nvGrpSpPr>
        <p:cNvPr id="1" name=""/>
        <p:cNvGrpSpPr/>
        <p:nvPr/>
      </p:nvGrpSpPr>
      <p:grpSpPr>
        <a:xfrm>
          <a:off x="0" y="0"/>
          <a:ext cx="0" cy="0"/>
          <a:chOff x="0" y="0"/>
          <a:chExt cx="0" cy="0"/>
        </a:xfrm>
      </p:grpSpPr>
      <p:sp>
        <p:nvSpPr>
          <p:cNvPr name="Freeform 2" id="2"/>
          <p:cNvSpPr/>
          <p:nvPr/>
        </p:nvSpPr>
        <p:spPr>
          <a:xfrm flipH="false" flipV="false" rot="0">
            <a:off x="845809" y="537857"/>
            <a:ext cx="643845" cy="643845"/>
          </a:xfrm>
          <a:custGeom>
            <a:avLst/>
            <a:gdLst/>
            <a:ahLst/>
            <a:cxnLst/>
            <a:rect r="r" b="b" t="t" l="l"/>
            <a:pathLst>
              <a:path h="643845" w="643845">
                <a:moveTo>
                  <a:pt x="0" y="0"/>
                </a:moveTo>
                <a:lnTo>
                  <a:pt x="643846" y="0"/>
                </a:lnTo>
                <a:lnTo>
                  <a:pt x="643846" y="643846"/>
                </a:lnTo>
                <a:lnTo>
                  <a:pt x="0" y="6438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638248" y="537857"/>
            <a:ext cx="9661254" cy="9597998"/>
            <a:chOff x="0" y="0"/>
            <a:chExt cx="818157" cy="812800"/>
          </a:xfrm>
        </p:grpSpPr>
        <p:sp>
          <p:nvSpPr>
            <p:cNvPr name="Freeform 4" id="4"/>
            <p:cNvSpPr/>
            <p:nvPr/>
          </p:nvSpPr>
          <p:spPr>
            <a:xfrm flipH="false" flipV="false" rot="0">
              <a:off x="0" y="0"/>
              <a:ext cx="818157" cy="812800"/>
            </a:xfrm>
            <a:custGeom>
              <a:avLst/>
              <a:gdLst/>
              <a:ahLst/>
              <a:cxnLst/>
              <a:rect r="r" b="b" t="t" l="l"/>
              <a:pathLst>
                <a:path h="812800" w="818157">
                  <a:moveTo>
                    <a:pt x="409078" y="0"/>
                  </a:moveTo>
                  <a:lnTo>
                    <a:pt x="818157" y="406400"/>
                  </a:lnTo>
                  <a:lnTo>
                    <a:pt x="409078" y="812800"/>
                  </a:lnTo>
                  <a:lnTo>
                    <a:pt x="0" y="406400"/>
                  </a:lnTo>
                  <a:lnTo>
                    <a:pt x="409078" y="0"/>
                  </a:lnTo>
                  <a:close/>
                </a:path>
              </a:pathLst>
            </a:custGeom>
            <a:ln w="38100" cap="sq">
              <a:solidFill>
                <a:srgbClr val="FFC178"/>
              </a:solidFill>
              <a:prstDash val="solid"/>
              <a:miter/>
            </a:ln>
          </p:spPr>
        </p:sp>
        <p:sp>
          <p:nvSpPr>
            <p:cNvPr name="TextBox 5" id="5"/>
            <p:cNvSpPr txBox="true"/>
            <p:nvPr/>
          </p:nvSpPr>
          <p:spPr>
            <a:xfrm>
              <a:off x="140621" y="92075"/>
              <a:ext cx="536915" cy="581025"/>
            </a:xfrm>
            <a:prstGeom prst="rect">
              <a:avLst/>
            </a:prstGeom>
          </p:spPr>
          <p:txBody>
            <a:bodyPr anchor="ctr" rtlCol="false" tIns="50800" lIns="50800" bIns="50800" rIns="50800"/>
            <a:lstStyle/>
            <a:p>
              <a:pPr algn="ctr">
                <a:lnSpc>
                  <a:spcPts val="3220"/>
                </a:lnSpc>
              </a:pPr>
            </a:p>
          </p:txBody>
        </p:sp>
      </p:grpSp>
      <p:grpSp>
        <p:nvGrpSpPr>
          <p:cNvPr name="Group 6" id="6"/>
          <p:cNvGrpSpPr/>
          <p:nvPr/>
        </p:nvGrpSpPr>
        <p:grpSpPr>
          <a:xfrm rot="0">
            <a:off x="13515534" y="1236818"/>
            <a:ext cx="3906682" cy="3906682"/>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solidFill>
              <a:srgbClr val="FF8A00"/>
            </a:solidFill>
          </p:spPr>
        </p:sp>
        <p:sp>
          <p:nvSpPr>
            <p:cNvPr name="TextBox 8" id="8"/>
            <p:cNvSpPr txBox="true"/>
            <p:nvPr/>
          </p:nvSpPr>
          <p:spPr>
            <a:xfrm>
              <a:off x="139700" y="92075"/>
              <a:ext cx="533400" cy="581025"/>
            </a:xfrm>
            <a:prstGeom prst="rect">
              <a:avLst/>
            </a:prstGeom>
          </p:spPr>
          <p:txBody>
            <a:bodyPr anchor="ctr" rtlCol="false" tIns="50800" lIns="50800" bIns="50800" rIns="50800"/>
            <a:lstStyle/>
            <a:p>
              <a:pPr algn="ctr">
                <a:lnSpc>
                  <a:spcPts val="3220"/>
                </a:lnSpc>
              </a:pPr>
            </a:p>
          </p:txBody>
        </p:sp>
      </p:grpSp>
      <p:grpSp>
        <p:nvGrpSpPr>
          <p:cNvPr name="Group 9" id="9"/>
          <p:cNvGrpSpPr/>
          <p:nvPr/>
        </p:nvGrpSpPr>
        <p:grpSpPr>
          <a:xfrm rot="0">
            <a:off x="10638248" y="6988540"/>
            <a:ext cx="3906682" cy="3906682"/>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solidFill>
              <a:srgbClr val="FFFFFF"/>
            </a:solidFill>
          </p:spPr>
        </p:sp>
        <p:sp>
          <p:nvSpPr>
            <p:cNvPr name="TextBox 11" id="11"/>
            <p:cNvSpPr txBox="true"/>
            <p:nvPr/>
          </p:nvSpPr>
          <p:spPr>
            <a:xfrm>
              <a:off x="139700" y="92075"/>
              <a:ext cx="533400" cy="581025"/>
            </a:xfrm>
            <a:prstGeom prst="rect">
              <a:avLst/>
            </a:prstGeom>
          </p:spPr>
          <p:txBody>
            <a:bodyPr anchor="ctr" rtlCol="false" tIns="50800" lIns="50800" bIns="50800" rIns="50800"/>
            <a:lstStyle/>
            <a:p>
              <a:pPr algn="ctr">
                <a:lnSpc>
                  <a:spcPts val="3220"/>
                </a:lnSpc>
              </a:pPr>
            </a:p>
          </p:txBody>
        </p:sp>
      </p:grpSp>
      <p:sp>
        <p:nvSpPr>
          <p:cNvPr name="TextBox 12" id="12"/>
          <p:cNvSpPr txBox="true"/>
          <p:nvPr/>
        </p:nvSpPr>
        <p:spPr>
          <a:xfrm rot="0">
            <a:off x="845809" y="4977502"/>
            <a:ext cx="9150200" cy="4364990"/>
          </a:xfrm>
          <a:prstGeom prst="rect">
            <a:avLst/>
          </a:prstGeom>
        </p:spPr>
        <p:txBody>
          <a:bodyPr anchor="t" rtlCol="false" tIns="0" lIns="0" bIns="0" rIns="0">
            <a:spAutoFit/>
          </a:bodyPr>
          <a:lstStyle/>
          <a:p>
            <a:pPr algn="just">
              <a:lnSpc>
                <a:spcPts val="3520"/>
              </a:lnSpc>
            </a:pPr>
            <a:r>
              <a:rPr lang="en-US" sz="2200" spc="220">
                <a:solidFill>
                  <a:srgbClr val="FFFFFF"/>
                </a:solidFill>
                <a:latin typeface="Duru Sans"/>
                <a:ea typeface="Duru Sans"/>
                <a:cs typeface="Duru Sans"/>
                <a:sym typeface="Duru Sans"/>
              </a:rPr>
              <a:t>The dataset used for this analysis contains information related to business sales transactions. It includes key fields such as order date, product name, category, region, sales, and profit.</a:t>
            </a:r>
          </a:p>
          <a:p>
            <a:pPr algn="just">
              <a:lnSpc>
                <a:spcPts val="3520"/>
              </a:lnSpc>
            </a:pPr>
          </a:p>
          <a:p>
            <a:pPr algn="just" marL="0" indent="0" lvl="0">
              <a:lnSpc>
                <a:spcPts val="3520"/>
              </a:lnSpc>
            </a:pPr>
            <a:r>
              <a:rPr lang="en-US" sz="2200" spc="220">
                <a:solidFill>
                  <a:srgbClr val="FFFFFF"/>
                </a:solidFill>
                <a:latin typeface="Duru Sans"/>
                <a:ea typeface="Duru Sans"/>
                <a:cs typeface="Duru Sans"/>
                <a:sym typeface="Duru Sans"/>
              </a:rPr>
              <a:t>This data helps in understanding sales performance, identifying high-performing products, and analyzing regional trends. It also supports evaluating profitability and making data-driven business decisions.</a:t>
            </a:r>
          </a:p>
        </p:txBody>
      </p:sp>
      <p:sp>
        <p:nvSpPr>
          <p:cNvPr name="TextBox 13" id="13"/>
          <p:cNvSpPr txBox="true"/>
          <p:nvPr/>
        </p:nvSpPr>
        <p:spPr>
          <a:xfrm rot="0">
            <a:off x="845809" y="2352001"/>
            <a:ext cx="9150200" cy="2206624"/>
          </a:xfrm>
          <a:prstGeom prst="rect">
            <a:avLst/>
          </a:prstGeom>
        </p:spPr>
        <p:txBody>
          <a:bodyPr anchor="t" rtlCol="false" tIns="0" lIns="0" bIns="0" rIns="0">
            <a:spAutoFit/>
          </a:bodyPr>
          <a:lstStyle/>
          <a:p>
            <a:pPr algn="just" marL="0" indent="0" lvl="0">
              <a:lnSpc>
                <a:spcPts val="8499"/>
              </a:lnSpc>
            </a:pPr>
            <a:r>
              <a:rPr lang="en-US" b="true" sz="8499" spc="679">
                <a:solidFill>
                  <a:srgbClr val="FF8A00"/>
                </a:solidFill>
                <a:latin typeface="Josefin Sans Bold"/>
                <a:ea typeface="Josefin Sans Bold"/>
                <a:cs typeface="Josefin Sans Bold"/>
                <a:sym typeface="Josefin Sans Bold"/>
              </a:rPr>
              <a:t>DATASET OVERVIEW </a:t>
            </a:r>
          </a:p>
        </p:txBody>
      </p:sp>
      <p:sp>
        <p:nvSpPr>
          <p:cNvPr name="TextBox 14" id="14"/>
          <p:cNvSpPr txBox="true"/>
          <p:nvPr/>
        </p:nvSpPr>
        <p:spPr>
          <a:xfrm rot="0">
            <a:off x="1672478" y="650902"/>
            <a:ext cx="8323532" cy="266700"/>
          </a:xfrm>
          <a:prstGeom prst="rect">
            <a:avLst/>
          </a:prstGeom>
        </p:spPr>
        <p:txBody>
          <a:bodyPr anchor="t" rtlCol="false" tIns="0" lIns="0" bIns="0" rIns="0">
            <a:spAutoFit/>
          </a:bodyPr>
          <a:lstStyle/>
          <a:p>
            <a:pPr algn="l" marL="0" indent="0" lvl="0">
              <a:lnSpc>
                <a:spcPts val="2100"/>
              </a:lnSpc>
              <a:spcBef>
                <a:spcPct val="0"/>
              </a:spcBef>
            </a:pPr>
            <a:r>
              <a:rPr lang="en-US" sz="1500" spc="150">
                <a:solidFill>
                  <a:srgbClr val="FFFFFF"/>
                </a:solidFill>
                <a:latin typeface="Duru Sans"/>
                <a:ea typeface="Duru Sans"/>
                <a:cs typeface="Duru Sans"/>
                <a:sym typeface="Duru Sans"/>
              </a:rPr>
              <a:t>FUTURE INTERNS – SALES ANALYSIS PROJECT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41415"/>
        </a:solidFill>
      </p:bgPr>
    </p:bg>
    <p:spTree>
      <p:nvGrpSpPr>
        <p:cNvPr id="1" name=""/>
        <p:cNvGrpSpPr/>
        <p:nvPr/>
      </p:nvGrpSpPr>
      <p:grpSpPr>
        <a:xfrm>
          <a:off x="0" y="0"/>
          <a:ext cx="0" cy="0"/>
          <a:chOff x="0" y="0"/>
          <a:chExt cx="0" cy="0"/>
        </a:xfrm>
      </p:grpSpPr>
      <p:sp>
        <p:nvSpPr>
          <p:cNvPr name="Freeform 2" id="2"/>
          <p:cNvSpPr/>
          <p:nvPr/>
        </p:nvSpPr>
        <p:spPr>
          <a:xfrm flipH="false" flipV="false" rot="0">
            <a:off x="-298932" y="-230013"/>
            <a:ext cx="18288000" cy="11094933"/>
          </a:xfrm>
          <a:custGeom>
            <a:avLst/>
            <a:gdLst/>
            <a:ahLst/>
            <a:cxnLst/>
            <a:rect r="r" b="b" t="t" l="l"/>
            <a:pathLst>
              <a:path h="11094933" w="18288000">
                <a:moveTo>
                  <a:pt x="0" y="0"/>
                </a:moveTo>
                <a:lnTo>
                  <a:pt x="18288000" y="0"/>
                </a:lnTo>
                <a:lnTo>
                  <a:pt x="18288000" y="11094933"/>
                </a:lnTo>
                <a:lnTo>
                  <a:pt x="0" y="11094933"/>
                </a:lnTo>
                <a:lnTo>
                  <a:pt x="0" y="0"/>
                </a:lnTo>
                <a:close/>
              </a:path>
            </a:pathLst>
          </a:custGeom>
          <a:blipFill>
            <a:blip r:embed="rId2"/>
            <a:stretch>
              <a:fillRect l="-1342" t="0" r="-491" b="-6377"/>
            </a:stretch>
          </a:blipFill>
        </p:spPr>
      </p:sp>
    </p:spTree>
  </p:cSld>
  <p:clrMapOvr>
    <a:masterClrMapping/>
  </p:clrMapOvr>
</p:sld>
</file>

<file path=ppt/slides/slide6.xml><?xml version="1.0" encoding="utf-8"?>
<p:sld xmlns:p="http://schemas.openxmlformats.org/presentationml/2006/main" xmlns:a="http://schemas.openxmlformats.org/drawingml/2006/main">
  <p:cSld>
    <p:bg>
      <p:bgPr>
        <a:solidFill>
          <a:srgbClr val="141415"/>
        </a:solidFill>
      </p:bgPr>
    </p:bg>
    <p:spTree>
      <p:nvGrpSpPr>
        <p:cNvPr id="1" name=""/>
        <p:cNvGrpSpPr/>
        <p:nvPr/>
      </p:nvGrpSpPr>
      <p:grpSpPr>
        <a:xfrm>
          <a:off x="0" y="0"/>
          <a:ext cx="0" cy="0"/>
          <a:chOff x="0" y="0"/>
          <a:chExt cx="0" cy="0"/>
        </a:xfrm>
      </p:grpSpPr>
      <p:sp>
        <p:nvSpPr>
          <p:cNvPr name="TextBox 2" id="2"/>
          <p:cNvSpPr txBox="true"/>
          <p:nvPr/>
        </p:nvSpPr>
        <p:spPr>
          <a:xfrm rot="0">
            <a:off x="0" y="159703"/>
            <a:ext cx="13240792" cy="1566544"/>
          </a:xfrm>
          <a:prstGeom prst="rect">
            <a:avLst/>
          </a:prstGeom>
        </p:spPr>
        <p:txBody>
          <a:bodyPr anchor="t" rtlCol="false" tIns="0" lIns="0" bIns="0" rIns="0">
            <a:spAutoFit/>
          </a:bodyPr>
          <a:lstStyle/>
          <a:p>
            <a:pPr algn="ctr">
              <a:lnSpc>
                <a:spcPts val="12880"/>
              </a:lnSpc>
            </a:pPr>
            <a:r>
              <a:rPr lang="en-US" sz="9200" b="true">
                <a:solidFill>
                  <a:srgbClr val="FFFFFF"/>
                </a:solidFill>
                <a:latin typeface="Canva Sans Bold"/>
                <a:ea typeface="Canva Sans Bold"/>
                <a:cs typeface="Canva Sans Bold"/>
                <a:sym typeface="Canva Sans Bold"/>
              </a:rPr>
              <a:t>🔹 Sales Trend Analysis</a:t>
            </a:r>
          </a:p>
        </p:txBody>
      </p:sp>
      <p:sp>
        <p:nvSpPr>
          <p:cNvPr name="TextBox 3" id="3"/>
          <p:cNvSpPr txBox="true"/>
          <p:nvPr/>
        </p:nvSpPr>
        <p:spPr>
          <a:xfrm rot="0">
            <a:off x="0" y="2753360"/>
            <a:ext cx="18288000" cy="3684270"/>
          </a:xfrm>
          <a:prstGeom prst="rect">
            <a:avLst/>
          </a:prstGeom>
        </p:spPr>
        <p:txBody>
          <a:bodyPr anchor="t" rtlCol="false" tIns="0" lIns="0" bIns="0" rIns="0">
            <a:spAutoFit/>
          </a:bodyPr>
          <a:lstStyle/>
          <a:p>
            <a:pPr algn="ctr">
              <a:lnSpc>
                <a:spcPts val="5880"/>
              </a:lnSpc>
            </a:pPr>
            <a:r>
              <a:rPr lang="en-US" sz="4200">
                <a:solidFill>
                  <a:srgbClr val="FFFFFF"/>
                </a:solidFill>
                <a:latin typeface="Canva Sans"/>
                <a:ea typeface="Canva Sans"/>
                <a:cs typeface="Canva Sans"/>
                <a:sym typeface="Canva Sans"/>
              </a:rPr>
              <a:t>The sales trend analysis shows how revenue changes over time. The data indicates an overall increasing trend in sales, although some fluctuations are observed during certain periods. This suggests that the business is growing, but there are variations in performance that may require better planning and consistency.</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141415"/>
        </a:solidFill>
      </p:bgPr>
    </p:bg>
    <p:spTree>
      <p:nvGrpSpPr>
        <p:cNvPr id="1" name=""/>
        <p:cNvGrpSpPr/>
        <p:nvPr/>
      </p:nvGrpSpPr>
      <p:grpSpPr>
        <a:xfrm>
          <a:off x="0" y="0"/>
          <a:ext cx="0" cy="0"/>
          <a:chOff x="0" y="0"/>
          <a:chExt cx="0" cy="0"/>
        </a:xfrm>
      </p:grpSpPr>
      <p:sp>
        <p:nvSpPr>
          <p:cNvPr name="TextBox 2" id="2"/>
          <p:cNvSpPr txBox="true"/>
          <p:nvPr/>
        </p:nvSpPr>
        <p:spPr>
          <a:xfrm rot="0">
            <a:off x="0" y="159703"/>
            <a:ext cx="11857955" cy="1566544"/>
          </a:xfrm>
          <a:prstGeom prst="rect">
            <a:avLst/>
          </a:prstGeom>
        </p:spPr>
        <p:txBody>
          <a:bodyPr anchor="t" rtlCol="false" tIns="0" lIns="0" bIns="0" rIns="0">
            <a:spAutoFit/>
          </a:bodyPr>
          <a:lstStyle/>
          <a:p>
            <a:pPr algn="ctr">
              <a:lnSpc>
                <a:spcPts val="12880"/>
              </a:lnSpc>
            </a:pPr>
            <a:r>
              <a:rPr lang="en-US" sz="9200" b="true">
                <a:solidFill>
                  <a:srgbClr val="FFFFFF"/>
                </a:solidFill>
                <a:latin typeface="Canva Sans Bold"/>
                <a:ea typeface="Canva Sans Bold"/>
                <a:cs typeface="Canva Sans Bold"/>
                <a:sym typeface="Canva Sans Bold"/>
              </a:rPr>
              <a:t>🔹 Category Analysis</a:t>
            </a:r>
          </a:p>
        </p:txBody>
      </p:sp>
      <p:sp>
        <p:nvSpPr>
          <p:cNvPr name="TextBox 3" id="3"/>
          <p:cNvSpPr txBox="true"/>
          <p:nvPr/>
        </p:nvSpPr>
        <p:spPr>
          <a:xfrm rot="0">
            <a:off x="0" y="3045778"/>
            <a:ext cx="18288000" cy="4109720"/>
          </a:xfrm>
          <a:prstGeom prst="rect">
            <a:avLst/>
          </a:prstGeom>
        </p:spPr>
        <p:txBody>
          <a:bodyPr anchor="t" rtlCol="false" tIns="0" lIns="0" bIns="0" rIns="0">
            <a:spAutoFit/>
          </a:bodyPr>
          <a:lstStyle/>
          <a:p>
            <a:pPr algn="ctr">
              <a:lnSpc>
                <a:spcPts val="6580"/>
              </a:lnSpc>
            </a:pPr>
            <a:r>
              <a:rPr lang="en-US" sz="4700">
                <a:solidFill>
                  <a:srgbClr val="FFFFFF"/>
                </a:solidFill>
                <a:latin typeface="Canva Sans"/>
                <a:ea typeface="Canva Sans"/>
                <a:cs typeface="Canva Sans"/>
                <a:sym typeface="Canva Sans"/>
              </a:rPr>
              <a:t>The category analysis reveals that the Technology category generates the highest revenue compared to Furniture and Office Supplies. This indicates that technology products are the main drivers of business sales, while other categories contribute at a moderate level.</a:t>
            </a: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141415"/>
        </a:solidFill>
      </p:bgPr>
    </p:bg>
    <p:spTree>
      <p:nvGrpSpPr>
        <p:cNvPr id="1" name=""/>
        <p:cNvGrpSpPr/>
        <p:nvPr/>
      </p:nvGrpSpPr>
      <p:grpSpPr>
        <a:xfrm>
          <a:off x="0" y="0"/>
          <a:ext cx="0" cy="0"/>
          <a:chOff x="0" y="0"/>
          <a:chExt cx="0" cy="0"/>
        </a:xfrm>
      </p:grpSpPr>
      <p:sp>
        <p:nvSpPr>
          <p:cNvPr name="TextBox 2" id="2"/>
          <p:cNvSpPr txBox="true"/>
          <p:nvPr/>
        </p:nvSpPr>
        <p:spPr>
          <a:xfrm rot="0">
            <a:off x="337590" y="159703"/>
            <a:ext cx="11599515" cy="1566544"/>
          </a:xfrm>
          <a:prstGeom prst="rect">
            <a:avLst/>
          </a:prstGeom>
        </p:spPr>
        <p:txBody>
          <a:bodyPr anchor="t" rtlCol="false" tIns="0" lIns="0" bIns="0" rIns="0">
            <a:spAutoFit/>
          </a:bodyPr>
          <a:lstStyle/>
          <a:p>
            <a:pPr algn="ctr">
              <a:lnSpc>
                <a:spcPts val="12880"/>
              </a:lnSpc>
            </a:pPr>
            <a:r>
              <a:rPr lang="en-US" sz="9200" b="true">
                <a:solidFill>
                  <a:srgbClr val="FFFFFF"/>
                </a:solidFill>
                <a:latin typeface="Canva Sans Bold"/>
                <a:ea typeface="Canva Sans Bold"/>
                <a:cs typeface="Canva Sans Bold"/>
                <a:sym typeface="Canva Sans Bold"/>
              </a:rPr>
              <a:t>🔹 Regional Analysis</a:t>
            </a:r>
          </a:p>
        </p:txBody>
      </p:sp>
      <p:sp>
        <p:nvSpPr>
          <p:cNvPr name="TextBox 3" id="3"/>
          <p:cNvSpPr txBox="true"/>
          <p:nvPr/>
        </p:nvSpPr>
        <p:spPr>
          <a:xfrm rot="0">
            <a:off x="0" y="3460115"/>
            <a:ext cx="18288000" cy="3281045"/>
          </a:xfrm>
          <a:prstGeom prst="rect">
            <a:avLst/>
          </a:prstGeom>
        </p:spPr>
        <p:txBody>
          <a:bodyPr anchor="t" rtlCol="false" tIns="0" lIns="0" bIns="0" rIns="0">
            <a:spAutoFit/>
          </a:bodyPr>
          <a:lstStyle/>
          <a:p>
            <a:pPr algn="ctr">
              <a:lnSpc>
                <a:spcPts val="6580"/>
              </a:lnSpc>
            </a:pPr>
            <a:r>
              <a:rPr lang="en-US" sz="4700">
                <a:solidFill>
                  <a:srgbClr val="FFFFFF"/>
                </a:solidFill>
                <a:latin typeface="Canva Sans"/>
                <a:ea typeface="Canva Sans"/>
                <a:cs typeface="Canva Sans"/>
                <a:sym typeface="Canva Sans"/>
              </a:rPr>
              <a:t>The regional analysis shows that the West region has the highest sales performance among all regions. This suggests strong demand and market presence in that area, while other regions show comparatively lower performance.</a:t>
            </a: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141415"/>
        </a:solidFill>
      </p:bgPr>
    </p:bg>
    <p:spTree>
      <p:nvGrpSpPr>
        <p:cNvPr id="1" name=""/>
        <p:cNvGrpSpPr/>
        <p:nvPr/>
      </p:nvGrpSpPr>
      <p:grpSpPr>
        <a:xfrm>
          <a:off x="0" y="0"/>
          <a:ext cx="0" cy="0"/>
          <a:chOff x="0" y="0"/>
          <a:chExt cx="0" cy="0"/>
        </a:xfrm>
      </p:grpSpPr>
      <p:sp>
        <p:nvSpPr>
          <p:cNvPr name="TextBox 2" id="2"/>
          <p:cNvSpPr txBox="true"/>
          <p:nvPr/>
        </p:nvSpPr>
        <p:spPr>
          <a:xfrm rot="0">
            <a:off x="0" y="159703"/>
            <a:ext cx="9908530" cy="1566544"/>
          </a:xfrm>
          <a:prstGeom prst="rect">
            <a:avLst/>
          </a:prstGeom>
        </p:spPr>
        <p:txBody>
          <a:bodyPr anchor="t" rtlCol="false" tIns="0" lIns="0" bIns="0" rIns="0">
            <a:spAutoFit/>
          </a:bodyPr>
          <a:lstStyle/>
          <a:p>
            <a:pPr algn="ctr">
              <a:lnSpc>
                <a:spcPts val="12880"/>
              </a:lnSpc>
            </a:pPr>
            <a:r>
              <a:rPr lang="en-US" sz="9200" b="true">
                <a:solidFill>
                  <a:srgbClr val="FFFFFF"/>
                </a:solidFill>
                <a:latin typeface="Canva Sans Bold"/>
                <a:ea typeface="Canva Sans Bold"/>
                <a:cs typeface="Canva Sans Bold"/>
                <a:sym typeface="Canva Sans Bold"/>
              </a:rPr>
              <a:t>🔹 Profit Analysis</a:t>
            </a:r>
          </a:p>
        </p:txBody>
      </p:sp>
      <p:sp>
        <p:nvSpPr>
          <p:cNvPr name="TextBox 3" id="3"/>
          <p:cNvSpPr txBox="true"/>
          <p:nvPr/>
        </p:nvSpPr>
        <p:spPr>
          <a:xfrm rot="0">
            <a:off x="0" y="3045778"/>
            <a:ext cx="18288000" cy="4109720"/>
          </a:xfrm>
          <a:prstGeom prst="rect">
            <a:avLst/>
          </a:prstGeom>
        </p:spPr>
        <p:txBody>
          <a:bodyPr anchor="t" rtlCol="false" tIns="0" lIns="0" bIns="0" rIns="0">
            <a:spAutoFit/>
          </a:bodyPr>
          <a:lstStyle/>
          <a:p>
            <a:pPr algn="ctr">
              <a:lnSpc>
                <a:spcPts val="6580"/>
              </a:lnSpc>
            </a:pPr>
            <a:r>
              <a:rPr lang="en-US" sz="4700">
                <a:solidFill>
                  <a:srgbClr val="FFFFFF"/>
                </a:solidFill>
                <a:latin typeface="Canva Sans"/>
                <a:ea typeface="Canva Sans"/>
                <a:cs typeface="Canva Sans"/>
                <a:sym typeface="Canva Sans"/>
              </a:rPr>
              <a:t>The profit analysis highlights that some products generate high sales but relatively lower profit margins. This indicates potential issues in cost management or pricing strategies, suggesting that the business should focus on improving profitability along with increasing sales.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45809" y="537857"/>
            <a:ext cx="643845" cy="643845"/>
          </a:xfrm>
          <a:custGeom>
            <a:avLst/>
            <a:gdLst/>
            <a:ahLst/>
            <a:cxnLst/>
            <a:rect r="r" b="b" t="t" l="l"/>
            <a:pathLst>
              <a:path h="643845" w="643845">
                <a:moveTo>
                  <a:pt x="0" y="0"/>
                </a:moveTo>
                <a:lnTo>
                  <a:pt x="643846" y="0"/>
                </a:lnTo>
                <a:lnTo>
                  <a:pt x="643846" y="643846"/>
                </a:lnTo>
                <a:lnTo>
                  <a:pt x="0" y="6438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34404" y="1437787"/>
            <a:ext cx="3451267" cy="3451267"/>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solidFill>
              <a:srgbClr val="FF8A00"/>
            </a:solidFill>
          </p:spPr>
        </p:sp>
        <p:sp>
          <p:nvSpPr>
            <p:cNvPr name="TextBox 5" id="5"/>
            <p:cNvSpPr txBox="true"/>
            <p:nvPr/>
          </p:nvSpPr>
          <p:spPr>
            <a:xfrm>
              <a:off x="139700" y="92075"/>
              <a:ext cx="533400" cy="581025"/>
            </a:xfrm>
            <a:prstGeom prst="rect">
              <a:avLst/>
            </a:prstGeom>
          </p:spPr>
          <p:txBody>
            <a:bodyPr anchor="ctr" rtlCol="false" tIns="50800" lIns="50800" bIns="50800" rIns="50800"/>
            <a:lstStyle/>
            <a:p>
              <a:pPr algn="ctr">
                <a:lnSpc>
                  <a:spcPts val="3220"/>
                </a:lnSpc>
              </a:pPr>
            </a:p>
          </p:txBody>
        </p:sp>
      </p:grpSp>
      <p:grpSp>
        <p:nvGrpSpPr>
          <p:cNvPr name="Group 6" id="6"/>
          <p:cNvGrpSpPr/>
          <p:nvPr/>
        </p:nvGrpSpPr>
        <p:grpSpPr>
          <a:xfrm rot="0">
            <a:off x="14208679" y="-1725634"/>
            <a:ext cx="3451267" cy="3451267"/>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solidFill>
              <a:srgbClr val="FF8A00"/>
            </a:solidFill>
          </p:spPr>
        </p:sp>
        <p:sp>
          <p:nvSpPr>
            <p:cNvPr name="TextBox 8" id="8"/>
            <p:cNvSpPr txBox="true"/>
            <p:nvPr/>
          </p:nvSpPr>
          <p:spPr>
            <a:xfrm>
              <a:off x="139700" y="92075"/>
              <a:ext cx="533400" cy="581025"/>
            </a:xfrm>
            <a:prstGeom prst="rect">
              <a:avLst/>
            </a:prstGeom>
          </p:spPr>
          <p:txBody>
            <a:bodyPr anchor="ctr" rtlCol="false" tIns="50800" lIns="50800" bIns="50800" rIns="50800"/>
            <a:lstStyle/>
            <a:p>
              <a:pPr algn="ctr">
                <a:lnSpc>
                  <a:spcPts val="3220"/>
                </a:lnSpc>
              </a:pPr>
            </a:p>
          </p:txBody>
        </p:sp>
      </p:grpSp>
      <p:sp>
        <p:nvSpPr>
          <p:cNvPr name="Freeform 9" id="9"/>
          <p:cNvSpPr/>
          <p:nvPr/>
        </p:nvSpPr>
        <p:spPr>
          <a:xfrm flipH="false" flipV="false" rot="0">
            <a:off x="4327411" y="2539732"/>
            <a:ext cx="739435" cy="869923"/>
          </a:xfrm>
          <a:custGeom>
            <a:avLst/>
            <a:gdLst/>
            <a:ahLst/>
            <a:cxnLst/>
            <a:rect r="r" b="b" t="t" l="l"/>
            <a:pathLst>
              <a:path h="869923" w="739435">
                <a:moveTo>
                  <a:pt x="0" y="0"/>
                </a:moveTo>
                <a:lnTo>
                  <a:pt x="739435" y="0"/>
                </a:lnTo>
                <a:lnTo>
                  <a:pt x="739435" y="869923"/>
                </a:lnTo>
                <a:lnTo>
                  <a:pt x="0" y="86992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4329552" y="4497774"/>
            <a:ext cx="739435" cy="869923"/>
          </a:xfrm>
          <a:custGeom>
            <a:avLst/>
            <a:gdLst/>
            <a:ahLst/>
            <a:cxnLst/>
            <a:rect r="r" b="b" t="t" l="l"/>
            <a:pathLst>
              <a:path h="869923" w="739435">
                <a:moveTo>
                  <a:pt x="0" y="0"/>
                </a:moveTo>
                <a:lnTo>
                  <a:pt x="739435" y="0"/>
                </a:lnTo>
                <a:lnTo>
                  <a:pt x="739435" y="869923"/>
                </a:lnTo>
                <a:lnTo>
                  <a:pt x="0" y="86992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1" id="11"/>
          <p:cNvGrpSpPr/>
          <p:nvPr/>
        </p:nvGrpSpPr>
        <p:grpSpPr>
          <a:xfrm rot="0">
            <a:off x="-2533113" y="6564976"/>
            <a:ext cx="5066226" cy="5033056"/>
            <a:chOff x="0" y="0"/>
            <a:chExt cx="818157" cy="812800"/>
          </a:xfrm>
        </p:grpSpPr>
        <p:sp>
          <p:nvSpPr>
            <p:cNvPr name="Freeform 12" id="12"/>
            <p:cNvSpPr/>
            <p:nvPr/>
          </p:nvSpPr>
          <p:spPr>
            <a:xfrm flipH="false" flipV="false" rot="0">
              <a:off x="0" y="0"/>
              <a:ext cx="818157" cy="812800"/>
            </a:xfrm>
            <a:custGeom>
              <a:avLst/>
              <a:gdLst/>
              <a:ahLst/>
              <a:cxnLst/>
              <a:rect r="r" b="b" t="t" l="l"/>
              <a:pathLst>
                <a:path h="812800" w="818157">
                  <a:moveTo>
                    <a:pt x="409078" y="0"/>
                  </a:moveTo>
                  <a:lnTo>
                    <a:pt x="818157" y="406400"/>
                  </a:lnTo>
                  <a:lnTo>
                    <a:pt x="409078" y="812800"/>
                  </a:lnTo>
                  <a:lnTo>
                    <a:pt x="0" y="406400"/>
                  </a:lnTo>
                  <a:lnTo>
                    <a:pt x="409078" y="0"/>
                  </a:lnTo>
                  <a:close/>
                </a:path>
              </a:pathLst>
            </a:custGeom>
            <a:ln w="38100" cap="sq">
              <a:solidFill>
                <a:srgbClr val="FFC178"/>
              </a:solidFill>
              <a:prstDash val="solid"/>
              <a:miter/>
            </a:ln>
          </p:spPr>
        </p:sp>
        <p:sp>
          <p:nvSpPr>
            <p:cNvPr name="TextBox 13" id="13"/>
            <p:cNvSpPr txBox="true"/>
            <p:nvPr/>
          </p:nvSpPr>
          <p:spPr>
            <a:xfrm>
              <a:off x="140621" y="92075"/>
              <a:ext cx="536915" cy="581025"/>
            </a:xfrm>
            <a:prstGeom prst="rect">
              <a:avLst/>
            </a:prstGeom>
          </p:spPr>
          <p:txBody>
            <a:bodyPr anchor="ctr" rtlCol="false" tIns="50800" lIns="50800" bIns="50800" rIns="50800"/>
            <a:lstStyle/>
            <a:p>
              <a:pPr algn="ctr">
                <a:lnSpc>
                  <a:spcPts val="3220"/>
                </a:lnSpc>
              </a:pPr>
            </a:p>
          </p:txBody>
        </p:sp>
      </p:grpSp>
      <p:sp>
        <p:nvSpPr>
          <p:cNvPr name="Freeform 14" id="14"/>
          <p:cNvSpPr/>
          <p:nvPr/>
        </p:nvSpPr>
        <p:spPr>
          <a:xfrm flipH="false" flipV="false" rot="0">
            <a:off x="4474505" y="6682147"/>
            <a:ext cx="739435" cy="869923"/>
          </a:xfrm>
          <a:custGeom>
            <a:avLst/>
            <a:gdLst/>
            <a:ahLst/>
            <a:cxnLst/>
            <a:rect r="r" b="b" t="t" l="l"/>
            <a:pathLst>
              <a:path h="869923" w="739435">
                <a:moveTo>
                  <a:pt x="0" y="0"/>
                </a:moveTo>
                <a:lnTo>
                  <a:pt x="739434" y="0"/>
                </a:lnTo>
                <a:lnTo>
                  <a:pt x="739434" y="869923"/>
                </a:lnTo>
                <a:lnTo>
                  <a:pt x="0" y="86992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5" id="15"/>
          <p:cNvSpPr txBox="true"/>
          <p:nvPr/>
        </p:nvSpPr>
        <p:spPr>
          <a:xfrm rot="0">
            <a:off x="1672478" y="650902"/>
            <a:ext cx="5314148" cy="266700"/>
          </a:xfrm>
          <a:prstGeom prst="rect">
            <a:avLst/>
          </a:prstGeom>
        </p:spPr>
        <p:txBody>
          <a:bodyPr anchor="t" rtlCol="false" tIns="0" lIns="0" bIns="0" rIns="0">
            <a:spAutoFit/>
          </a:bodyPr>
          <a:lstStyle/>
          <a:p>
            <a:pPr algn="l" marL="0" indent="0" lvl="0">
              <a:lnSpc>
                <a:spcPts val="2100"/>
              </a:lnSpc>
              <a:spcBef>
                <a:spcPct val="0"/>
              </a:spcBef>
            </a:pPr>
            <a:r>
              <a:rPr lang="en-US" sz="1500" spc="150">
                <a:solidFill>
                  <a:srgbClr val="000000"/>
                </a:solidFill>
                <a:latin typeface="Duru Sans"/>
                <a:ea typeface="Duru Sans"/>
                <a:cs typeface="Duru Sans"/>
                <a:sym typeface="Duru Sans"/>
              </a:rPr>
              <a:t>FUTURE INTERNS – SALES ANALYSIS PROJECT</a:t>
            </a:r>
          </a:p>
        </p:txBody>
      </p:sp>
      <p:sp>
        <p:nvSpPr>
          <p:cNvPr name="TextBox 16" id="16"/>
          <p:cNvSpPr txBox="true"/>
          <p:nvPr/>
        </p:nvSpPr>
        <p:spPr>
          <a:xfrm rot="0">
            <a:off x="1473863" y="1626534"/>
            <a:ext cx="16814137" cy="1130299"/>
          </a:xfrm>
          <a:prstGeom prst="rect">
            <a:avLst/>
          </a:prstGeom>
        </p:spPr>
        <p:txBody>
          <a:bodyPr anchor="t" rtlCol="false" tIns="0" lIns="0" bIns="0" rIns="0">
            <a:spAutoFit/>
          </a:bodyPr>
          <a:lstStyle/>
          <a:p>
            <a:pPr algn="l" marL="0" indent="0" lvl="0">
              <a:lnSpc>
                <a:spcPts val="8499"/>
              </a:lnSpc>
            </a:pPr>
            <a:r>
              <a:rPr lang="en-US" b="true" sz="8499" spc="679">
                <a:solidFill>
                  <a:srgbClr val="141415"/>
                </a:solidFill>
                <a:latin typeface="Josefin Sans Bold"/>
                <a:ea typeface="Josefin Sans Bold"/>
                <a:cs typeface="Josefin Sans Bold"/>
                <a:sym typeface="Josefin Sans Bold"/>
              </a:rPr>
              <a:t>SALES</a:t>
            </a:r>
            <a:r>
              <a:rPr lang="en-US" b="true" sz="8499" spc="679">
                <a:solidFill>
                  <a:srgbClr val="141415"/>
                </a:solidFill>
                <a:latin typeface="Josefin Sans Bold"/>
                <a:ea typeface="Josefin Sans Bold"/>
                <a:cs typeface="Josefin Sans Bold"/>
                <a:sym typeface="Josefin Sans Bold"/>
              </a:rPr>
              <a:t> Performance</a:t>
            </a:r>
          </a:p>
        </p:txBody>
      </p:sp>
      <p:sp>
        <p:nvSpPr>
          <p:cNvPr name="TextBox 17" id="17"/>
          <p:cNvSpPr txBox="true"/>
          <p:nvPr/>
        </p:nvSpPr>
        <p:spPr>
          <a:xfrm rot="0">
            <a:off x="5508126" y="3075494"/>
            <a:ext cx="12151820" cy="1813560"/>
          </a:xfrm>
          <a:prstGeom prst="rect">
            <a:avLst/>
          </a:prstGeom>
        </p:spPr>
        <p:txBody>
          <a:bodyPr anchor="t" rtlCol="false" tIns="0" lIns="0" bIns="0" rIns="0">
            <a:spAutoFit/>
          </a:bodyPr>
          <a:lstStyle/>
          <a:p>
            <a:pPr algn="just" marL="0" indent="0" lvl="0">
              <a:lnSpc>
                <a:spcPts val="3600"/>
              </a:lnSpc>
            </a:pPr>
            <a:r>
              <a:rPr lang="en-US" sz="2400" spc="168">
                <a:solidFill>
                  <a:srgbClr val="000000"/>
                </a:solidFill>
                <a:latin typeface="Duru Sans"/>
                <a:ea typeface="Duru Sans"/>
                <a:cs typeface="Duru Sans"/>
                <a:sym typeface="Duru Sans"/>
              </a:rPr>
              <a:t>Revenue growth shows how the company’s sales are increasing over time. The analysis indicates a gradual rise in sales with some fluctuations. This reflects overall business growth and increasing demand for products.</a:t>
            </a:r>
          </a:p>
        </p:txBody>
      </p:sp>
      <p:sp>
        <p:nvSpPr>
          <p:cNvPr name="TextBox 18" id="18"/>
          <p:cNvSpPr txBox="true"/>
          <p:nvPr/>
        </p:nvSpPr>
        <p:spPr>
          <a:xfrm rot="0">
            <a:off x="5508126" y="5325689"/>
            <a:ext cx="12151820" cy="1813560"/>
          </a:xfrm>
          <a:prstGeom prst="rect">
            <a:avLst/>
          </a:prstGeom>
        </p:spPr>
        <p:txBody>
          <a:bodyPr anchor="t" rtlCol="false" tIns="0" lIns="0" bIns="0" rIns="0">
            <a:spAutoFit/>
          </a:bodyPr>
          <a:lstStyle/>
          <a:p>
            <a:pPr algn="just" marL="0" indent="0" lvl="0">
              <a:lnSpc>
                <a:spcPts val="3600"/>
              </a:lnSpc>
            </a:pPr>
            <a:r>
              <a:rPr lang="en-US" sz="2400" spc="168">
                <a:solidFill>
                  <a:srgbClr val="000000"/>
                </a:solidFill>
                <a:latin typeface="Duru Sans"/>
                <a:ea typeface="Duru Sans"/>
                <a:cs typeface="Duru Sans"/>
                <a:sym typeface="Duru Sans"/>
              </a:rPr>
              <a:t>Market penetration refers to how well the business is performing across different regions and product categories. The analysis shows that the Technology category and West region contribute the highest sales, indicating strong market presence in these areas.</a:t>
            </a:r>
          </a:p>
        </p:txBody>
      </p:sp>
      <p:sp>
        <p:nvSpPr>
          <p:cNvPr name="TextBox 19" id="19"/>
          <p:cNvSpPr txBox="true"/>
          <p:nvPr/>
        </p:nvSpPr>
        <p:spPr>
          <a:xfrm rot="0">
            <a:off x="5508126" y="7994829"/>
            <a:ext cx="12151820" cy="1813560"/>
          </a:xfrm>
          <a:prstGeom prst="rect">
            <a:avLst/>
          </a:prstGeom>
        </p:spPr>
        <p:txBody>
          <a:bodyPr anchor="t" rtlCol="false" tIns="0" lIns="0" bIns="0" rIns="0">
            <a:spAutoFit/>
          </a:bodyPr>
          <a:lstStyle/>
          <a:p>
            <a:pPr algn="just" marL="0" indent="0" lvl="0">
              <a:lnSpc>
                <a:spcPts val="3600"/>
              </a:lnSpc>
            </a:pPr>
            <a:r>
              <a:rPr lang="en-US" sz="2400" spc="168">
                <a:solidFill>
                  <a:srgbClr val="000000"/>
                </a:solidFill>
                <a:latin typeface="Duru Sans"/>
                <a:ea typeface="Duru Sans"/>
                <a:cs typeface="Duru Sans"/>
                <a:sym typeface="Duru Sans"/>
              </a:rPr>
              <a:t>Customer retention reflects the ability of a business to maintain consistent sales over time. The steady sales trend suggests that customers continue to purchase products, indicating stable demand and customer engagement.</a:t>
            </a:r>
          </a:p>
        </p:txBody>
      </p:sp>
      <p:sp>
        <p:nvSpPr>
          <p:cNvPr name="TextBox 20" id="20"/>
          <p:cNvSpPr txBox="true"/>
          <p:nvPr/>
        </p:nvSpPr>
        <p:spPr>
          <a:xfrm rot="0">
            <a:off x="5213939" y="2716304"/>
            <a:ext cx="12151820" cy="469154"/>
          </a:xfrm>
          <a:prstGeom prst="rect">
            <a:avLst/>
          </a:prstGeom>
        </p:spPr>
        <p:txBody>
          <a:bodyPr anchor="t" rtlCol="false" tIns="0" lIns="0" bIns="0" rIns="0">
            <a:spAutoFit/>
          </a:bodyPr>
          <a:lstStyle/>
          <a:p>
            <a:pPr algn="just" marL="0" indent="0" lvl="0">
              <a:lnSpc>
                <a:spcPts val="3639"/>
              </a:lnSpc>
            </a:pPr>
            <a:r>
              <a:rPr lang="en-US" b="true" sz="2799" spc="195">
                <a:solidFill>
                  <a:srgbClr val="000000"/>
                </a:solidFill>
                <a:latin typeface="Josefin Sans Bold"/>
                <a:ea typeface="Josefin Sans Bold"/>
                <a:cs typeface="Josefin Sans Bold"/>
                <a:sym typeface="Josefin Sans Bold"/>
              </a:rPr>
              <a:t>REVENUE GROWTH</a:t>
            </a:r>
          </a:p>
        </p:txBody>
      </p:sp>
      <p:sp>
        <p:nvSpPr>
          <p:cNvPr name="TextBox 21" id="21"/>
          <p:cNvSpPr txBox="true"/>
          <p:nvPr/>
        </p:nvSpPr>
        <p:spPr>
          <a:xfrm rot="0">
            <a:off x="5213939" y="4885111"/>
            <a:ext cx="12151820" cy="469154"/>
          </a:xfrm>
          <a:prstGeom prst="rect">
            <a:avLst/>
          </a:prstGeom>
        </p:spPr>
        <p:txBody>
          <a:bodyPr anchor="t" rtlCol="false" tIns="0" lIns="0" bIns="0" rIns="0">
            <a:spAutoFit/>
          </a:bodyPr>
          <a:lstStyle/>
          <a:p>
            <a:pPr algn="just" marL="0" indent="0" lvl="0">
              <a:lnSpc>
                <a:spcPts val="3639"/>
              </a:lnSpc>
            </a:pPr>
            <a:r>
              <a:rPr lang="en-US" b="true" sz="2799" spc="195">
                <a:solidFill>
                  <a:srgbClr val="000000"/>
                </a:solidFill>
                <a:latin typeface="Josefin Sans Bold"/>
                <a:ea typeface="Josefin Sans Bold"/>
                <a:cs typeface="Josefin Sans Bold"/>
                <a:sym typeface="Josefin Sans Bold"/>
              </a:rPr>
              <a:t>MARKET PENETRATION</a:t>
            </a:r>
          </a:p>
        </p:txBody>
      </p:sp>
      <p:sp>
        <p:nvSpPr>
          <p:cNvPr name="TextBox 22" id="22"/>
          <p:cNvSpPr txBox="true"/>
          <p:nvPr/>
        </p:nvSpPr>
        <p:spPr>
          <a:xfrm rot="0">
            <a:off x="5213939" y="7293681"/>
            <a:ext cx="12151820" cy="469154"/>
          </a:xfrm>
          <a:prstGeom prst="rect">
            <a:avLst/>
          </a:prstGeom>
        </p:spPr>
        <p:txBody>
          <a:bodyPr anchor="t" rtlCol="false" tIns="0" lIns="0" bIns="0" rIns="0">
            <a:spAutoFit/>
          </a:bodyPr>
          <a:lstStyle/>
          <a:p>
            <a:pPr algn="just" marL="0" indent="0" lvl="0">
              <a:lnSpc>
                <a:spcPts val="3639"/>
              </a:lnSpc>
            </a:pPr>
            <a:r>
              <a:rPr lang="en-US" b="true" sz="2799" spc="195">
                <a:solidFill>
                  <a:srgbClr val="000000"/>
                </a:solidFill>
                <a:latin typeface="Josefin Sans Bold"/>
                <a:ea typeface="Josefin Sans Bold"/>
                <a:cs typeface="Josefin Sans Bold"/>
                <a:sym typeface="Josefin Sans Bold"/>
              </a:rPr>
              <a:t>CUSTOMER RETENTION</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45809" y="537857"/>
            <a:ext cx="643845" cy="643845"/>
          </a:xfrm>
          <a:custGeom>
            <a:avLst/>
            <a:gdLst/>
            <a:ahLst/>
            <a:cxnLst/>
            <a:rect r="r" b="b" t="t" l="l"/>
            <a:pathLst>
              <a:path h="643845" w="643845">
                <a:moveTo>
                  <a:pt x="0" y="0"/>
                </a:moveTo>
                <a:lnTo>
                  <a:pt x="643846" y="0"/>
                </a:lnTo>
                <a:lnTo>
                  <a:pt x="643846" y="643846"/>
                </a:lnTo>
                <a:lnTo>
                  <a:pt x="0" y="6438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40831" y="4571698"/>
            <a:ext cx="6228187" cy="6187409"/>
            <a:chOff x="0" y="0"/>
            <a:chExt cx="818157" cy="812800"/>
          </a:xfrm>
        </p:grpSpPr>
        <p:sp>
          <p:nvSpPr>
            <p:cNvPr name="Freeform 4" id="4"/>
            <p:cNvSpPr/>
            <p:nvPr/>
          </p:nvSpPr>
          <p:spPr>
            <a:xfrm flipH="false" flipV="false" rot="0">
              <a:off x="0" y="0"/>
              <a:ext cx="818157" cy="812800"/>
            </a:xfrm>
            <a:custGeom>
              <a:avLst/>
              <a:gdLst/>
              <a:ahLst/>
              <a:cxnLst/>
              <a:rect r="r" b="b" t="t" l="l"/>
              <a:pathLst>
                <a:path h="812800" w="818157">
                  <a:moveTo>
                    <a:pt x="409078" y="0"/>
                  </a:moveTo>
                  <a:lnTo>
                    <a:pt x="818157" y="406400"/>
                  </a:lnTo>
                  <a:lnTo>
                    <a:pt x="409078" y="812800"/>
                  </a:lnTo>
                  <a:lnTo>
                    <a:pt x="0" y="406400"/>
                  </a:lnTo>
                  <a:lnTo>
                    <a:pt x="409078" y="0"/>
                  </a:lnTo>
                  <a:close/>
                </a:path>
              </a:pathLst>
            </a:custGeom>
            <a:ln w="38100" cap="sq">
              <a:solidFill>
                <a:srgbClr val="FFC178"/>
              </a:solidFill>
              <a:prstDash val="solid"/>
              <a:miter/>
            </a:ln>
          </p:spPr>
        </p:sp>
        <p:sp>
          <p:nvSpPr>
            <p:cNvPr name="TextBox 5" id="5"/>
            <p:cNvSpPr txBox="true"/>
            <p:nvPr/>
          </p:nvSpPr>
          <p:spPr>
            <a:xfrm>
              <a:off x="140621" y="92075"/>
              <a:ext cx="536915" cy="581025"/>
            </a:xfrm>
            <a:prstGeom prst="rect">
              <a:avLst/>
            </a:prstGeom>
          </p:spPr>
          <p:txBody>
            <a:bodyPr anchor="ctr" rtlCol="false" tIns="50800" lIns="50800" bIns="50800" rIns="50800"/>
            <a:lstStyle/>
            <a:p>
              <a:pPr algn="ctr">
                <a:lnSpc>
                  <a:spcPts val="3220"/>
                </a:lnSpc>
              </a:pPr>
            </a:p>
          </p:txBody>
        </p:sp>
      </p:grpSp>
      <p:grpSp>
        <p:nvGrpSpPr>
          <p:cNvPr name="Group 6" id="6"/>
          <p:cNvGrpSpPr/>
          <p:nvPr/>
        </p:nvGrpSpPr>
        <p:grpSpPr>
          <a:xfrm rot="0">
            <a:off x="1826576" y="7562929"/>
            <a:ext cx="3074902" cy="3074902"/>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solidFill>
              <a:srgbClr val="FF8A00"/>
            </a:solidFill>
          </p:spPr>
        </p:sp>
        <p:sp>
          <p:nvSpPr>
            <p:cNvPr name="TextBox 8" id="8"/>
            <p:cNvSpPr txBox="true"/>
            <p:nvPr/>
          </p:nvSpPr>
          <p:spPr>
            <a:xfrm>
              <a:off x="139700" y="92075"/>
              <a:ext cx="533400" cy="581025"/>
            </a:xfrm>
            <a:prstGeom prst="rect">
              <a:avLst/>
            </a:prstGeom>
          </p:spPr>
          <p:txBody>
            <a:bodyPr anchor="ctr" rtlCol="false" tIns="50800" lIns="50800" bIns="50800" rIns="50800"/>
            <a:lstStyle/>
            <a:p>
              <a:pPr algn="ctr">
                <a:lnSpc>
                  <a:spcPts val="3220"/>
                </a:lnSpc>
              </a:pPr>
            </a:p>
          </p:txBody>
        </p:sp>
      </p:grpSp>
      <p:grpSp>
        <p:nvGrpSpPr>
          <p:cNvPr name="Group 9" id="9"/>
          <p:cNvGrpSpPr/>
          <p:nvPr/>
        </p:nvGrpSpPr>
        <p:grpSpPr>
          <a:xfrm rot="0">
            <a:off x="135027" y="5813073"/>
            <a:ext cx="3074902" cy="3074902"/>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solidFill>
              <a:srgbClr val="FF8A00"/>
            </a:solidFill>
          </p:spPr>
        </p:sp>
        <p:sp>
          <p:nvSpPr>
            <p:cNvPr name="TextBox 11" id="11"/>
            <p:cNvSpPr txBox="true"/>
            <p:nvPr/>
          </p:nvSpPr>
          <p:spPr>
            <a:xfrm>
              <a:off x="139700" y="92075"/>
              <a:ext cx="533400" cy="581025"/>
            </a:xfrm>
            <a:prstGeom prst="rect">
              <a:avLst/>
            </a:prstGeom>
          </p:spPr>
          <p:txBody>
            <a:bodyPr anchor="ctr" rtlCol="false" tIns="50800" lIns="50800" bIns="50800" rIns="50800"/>
            <a:lstStyle/>
            <a:p>
              <a:pPr algn="ctr">
                <a:lnSpc>
                  <a:spcPts val="3220"/>
                </a:lnSpc>
              </a:pPr>
            </a:p>
          </p:txBody>
        </p:sp>
      </p:grpSp>
      <p:grpSp>
        <p:nvGrpSpPr>
          <p:cNvPr name="Group 12" id="12"/>
          <p:cNvGrpSpPr/>
          <p:nvPr/>
        </p:nvGrpSpPr>
        <p:grpSpPr>
          <a:xfrm rot="0">
            <a:off x="-1556523" y="7562929"/>
            <a:ext cx="3074902" cy="3074902"/>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solidFill>
              <a:srgbClr val="FFC178"/>
            </a:solidFill>
          </p:spPr>
        </p:sp>
        <p:sp>
          <p:nvSpPr>
            <p:cNvPr name="TextBox 14" id="14"/>
            <p:cNvSpPr txBox="true"/>
            <p:nvPr/>
          </p:nvSpPr>
          <p:spPr>
            <a:xfrm>
              <a:off x="139700" y="92075"/>
              <a:ext cx="533400" cy="581025"/>
            </a:xfrm>
            <a:prstGeom prst="rect">
              <a:avLst/>
            </a:prstGeom>
          </p:spPr>
          <p:txBody>
            <a:bodyPr anchor="ctr" rtlCol="false" tIns="50800" lIns="50800" bIns="50800" rIns="50800"/>
            <a:lstStyle/>
            <a:p>
              <a:pPr algn="ctr">
                <a:lnSpc>
                  <a:spcPts val="3220"/>
                </a:lnSpc>
              </a:pPr>
            </a:p>
          </p:txBody>
        </p:sp>
      </p:grpSp>
      <p:sp>
        <p:nvSpPr>
          <p:cNvPr name="TextBox 15" id="15"/>
          <p:cNvSpPr txBox="true"/>
          <p:nvPr/>
        </p:nvSpPr>
        <p:spPr>
          <a:xfrm rot="0">
            <a:off x="1672478" y="650902"/>
            <a:ext cx="4784449" cy="533400"/>
          </a:xfrm>
          <a:prstGeom prst="rect">
            <a:avLst/>
          </a:prstGeom>
        </p:spPr>
        <p:txBody>
          <a:bodyPr anchor="t" rtlCol="false" tIns="0" lIns="0" bIns="0" rIns="0">
            <a:spAutoFit/>
          </a:bodyPr>
          <a:lstStyle/>
          <a:p>
            <a:pPr algn="l" marL="0" indent="0" lvl="0">
              <a:lnSpc>
                <a:spcPts val="2100"/>
              </a:lnSpc>
              <a:spcBef>
                <a:spcPct val="0"/>
              </a:spcBef>
            </a:pPr>
            <a:r>
              <a:rPr lang="en-US" sz="1500" spc="150">
                <a:solidFill>
                  <a:srgbClr val="000000"/>
                </a:solidFill>
                <a:latin typeface="Duru Sans"/>
                <a:ea typeface="Duru Sans"/>
                <a:cs typeface="Duru Sans"/>
                <a:sym typeface="Duru Sans"/>
              </a:rPr>
              <a:t>FUTURE INTERNS – SALES ANALYSIS PROJECT</a:t>
            </a:r>
          </a:p>
        </p:txBody>
      </p:sp>
      <p:sp>
        <p:nvSpPr>
          <p:cNvPr name="TextBox 16" id="16"/>
          <p:cNvSpPr txBox="true"/>
          <p:nvPr/>
        </p:nvSpPr>
        <p:spPr>
          <a:xfrm rot="0">
            <a:off x="7470046" y="1878349"/>
            <a:ext cx="10137316" cy="6113145"/>
          </a:xfrm>
          <a:prstGeom prst="rect">
            <a:avLst/>
          </a:prstGeom>
        </p:spPr>
        <p:txBody>
          <a:bodyPr anchor="t" rtlCol="false" tIns="0" lIns="0" bIns="0" rIns="0">
            <a:spAutoFit/>
          </a:bodyPr>
          <a:lstStyle/>
          <a:p>
            <a:pPr algn="just">
              <a:lnSpc>
                <a:spcPts val="3450"/>
              </a:lnSpc>
            </a:pPr>
            <a:r>
              <a:rPr lang="en-US" sz="2300" spc="161">
                <a:solidFill>
                  <a:srgbClr val="000000"/>
                </a:solidFill>
                <a:latin typeface="Duru Sans"/>
                <a:ea typeface="Duru Sans"/>
                <a:cs typeface="Duru Sans"/>
                <a:sym typeface="Duru Sans"/>
              </a:rPr>
              <a:t>- Sales show an overall increasing trend with some fluctuations over time.</a:t>
            </a:r>
          </a:p>
          <a:p>
            <a:pPr algn="just">
              <a:lnSpc>
                <a:spcPts val="3450"/>
              </a:lnSpc>
            </a:pPr>
          </a:p>
          <a:p>
            <a:pPr algn="just">
              <a:lnSpc>
                <a:spcPts val="3450"/>
              </a:lnSpc>
            </a:pPr>
            <a:r>
              <a:rPr lang="en-US" sz="2300" spc="161">
                <a:solidFill>
                  <a:srgbClr val="000000"/>
                </a:solidFill>
                <a:latin typeface="Duru Sans"/>
                <a:ea typeface="Duru Sans"/>
                <a:cs typeface="Duru Sans"/>
                <a:sym typeface="Duru Sans"/>
              </a:rPr>
              <a:t>- Technology category generates the highest revenue among all categories.</a:t>
            </a:r>
          </a:p>
          <a:p>
            <a:pPr algn="just">
              <a:lnSpc>
                <a:spcPts val="3450"/>
              </a:lnSpc>
            </a:pPr>
          </a:p>
          <a:p>
            <a:pPr algn="just">
              <a:lnSpc>
                <a:spcPts val="3450"/>
              </a:lnSpc>
            </a:pPr>
            <a:r>
              <a:rPr lang="en-US" sz="2300" spc="161">
                <a:solidFill>
                  <a:srgbClr val="000000"/>
                </a:solidFill>
                <a:latin typeface="Duru Sans"/>
                <a:ea typeface="Duru Sans"/>
                <a:cs typeface="Duru Sans"/>
                <a:sym typeface="Duru Sans"/>
              </a:rPr>
              <a:t>- West region contributes the most to total sales performance.</a:t>
            </a:r>
          </a:p>
          <a:p>
            <a:pPr algn="just">
              <a:lnSpc>
                <a:spcPts val="3450"/>
              </a:lnSpc>
            </a:pPr>
          </a:p>
          <a:p>
            <a:pPr algn="just">
              <a:lnSpc>
                <a:spcPts val="3450"/>
              </a:lnSpc>
            </a:pPr>
            <a:r>
              <a:rPr lang="en-US" sz="2300" spc="161">
                <a:solidFill>
                  <a:srgbClr val="000000"/>
                </a:solidFill>
                <a:latin typeface="Duru Sans"/>
                <a:ea typeface="Duru Sans"/>
                <a:cs typeface="Duru Sans"/>
                <a:sym typeface="Duru Sans"/>
              </a:rPr>
              <a:t>- Furniture and Office Supplies have moderate performance compared to Technology</a:t>
            </a:r>
          </a:p>
          <a:p>
            <a:pPr algn="just">
              <a:lnSpc>
                <a:spcPts val="3450"/>
              </a:lnSpc>
            </a:pPr>
          </a:p>
          <a:p>
            <a:pPr algn="just" marL="0" indent="0" lvl="0">
              <a:lnSpc>
                <a:spcPts val="3450"/>
              </a:lnSpc>
            </a:pPr>
            <a:r>
              <a:rPr lang="en-US" sz="2300" spc="161">
                <a:solidFill>
                  <a:srgbClr val="000000"/>
                </a:solidFill>
                <a:latin typeface="Duru Sans"/>
                <a:ea typeface="Duru Sans"/>
                <a:cs typeface="Duru Sans"/>
                <a:sym typeface="Duru Sans"/>
              </a:rPr>
              <a:t>- Some products show high sales but relatively lower profit margins.</a:t>
            </a:r>
          </a:p>
        </p:txBody>
      </p:sp>
      <p:sp>
        <p:nvSpPr>
          <p:cNvPr name="TextBox 17" id="17"/>
          <p:cNvSpPr txBox="true"/>
          <p:nvPr/>
        </p:nvSpPr>
        <p:spPr>
          <a:xfrm rot="0">
            <a:off x="558468" y="2193832"/>
            <a:ext cx="5611117" cy="2089151"/>
          </a:xfrm>
          <a:prstGeom prst="rect">
            <a:avLst/>
          </a:prstGeom>
        </p:spPr>
        <p:txBody>
          <a:bodyPr anchor="t" rtlCol="false" tIns="0" lIns="0" bIns="0" rIns="0">
            <a:spAutoFit/>
          </a:bodyPr>
          <a:lstStyle/>
          <a:p>
            <a:pPr algn="just" marL="0" indent="0" lvl="0">
              <a:lnSpc>
                <a:spcPts val="8000"/>
              </a:lnSpc>
            </a:pPr>
            <a:r>
              <a:rPr lang="en-US" b="true" sz="8000" spc="640">
                <a:solidFill>
                  <a:srgbClr val="000000"/>
                </a:solidFill>
                <a:latin typeface="Josefin Sans Bold"/>
                <a:ea typeface="Josefin Sans Bold"/>
                <a:cs typeface="Josefin Sans Bold"/>
                <a:sym typeface="Josefin Sans Bold"/>
              </a:rPr>
              <a:t>KEY INSIGHTS </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2E2E2E"/>
        </a:solidFill>
      </p:bgPr>
    </p:bg>
    <p:spTree>
      <p:nvGrpSpPr>
        <p:cNvPr id="1" name=""/>
        <p:cNvGrpSpPr/>
        <p:nvPr/>
      </p:nvGrpSpPr>
      <p:grpSpPr>
        <a:xfrm>
          <a:off x="0" y="0"/>
          <a:ext cx="0" cy="0"/>
          <a:chOff x="0" y="0"/>
          <a:chExt cx="0" cy="0"/>
        </a:xfrm>
      </p:grpSpPr>
      <p:sp>
        <p:nvSpPr>
          <p:cNvPr name="Freeform 2" id="2"/>
          <p:cNvSpPr/>
          <p:nvPr/>
        </p:nvSpPr>
        <p:spPr>
          <a:xfrm flipH="false" flipV="false" rot="0">
            <a:off x="845809" y="537857"/>
            <a:ext cx="643845" cy="643845"/>
          </a:xfrm>
          <a:custGeom>
            <a:avLst/>
            <a:gdLst/>
            <a:ahLst/>
            <a:cxnLst/>
            <a:rect r="r" b="b" t="t" l="l"/>
            <a:pathLst>
              <a:path h="643845" w="643845">
                <a:moveTo>
                  <a:pt x="0" y="0"/>
                </a:moveTo>
                <a:lnTo>
                  <a:pt x="643846" y="0"/>
                </a:lnTo>
                <a:lnTo>
                  <a:pt x="643846" y="643846"/>
                </a:lnTo>
                <a:lnTo>
                  <a:pt x="0" y="6438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0" y="1882339"/>
            <a:ext cx="10756462" cy="10686035"/>
            <a:chOff x="0" y="0"/>
            <a:chExt cx="818157" cy="812800"/>
          </a:xfrm>
        </p:grpSpPr>
        <p:sp>
          <p:nvSpPr>
            <p:cNvPr name="Freeform 4" id="4"/>
            <p:cNvSpPr/>
            <p:nvPr/>
          </p:nvSpPr>
          <p:spPr>
            <a:xfrm flipH="false" flipV="false" rot="0">
              <a:off x="0" y="0"/>
              <a:ext cx="818157" cy="812800"/>
            </a:xfrm>
            <a:custGeom>
              <a:avLst/>
              <a:gdLst/>
              <a:ahLst/>
              <a:cxnLst/>
              <a:rect r="r" b="b" t="t" l="l"/>
              <a:pathLst>
                <a:path h="812800" w="818157">
                  <a:moveTo>
                    <a:pt x="409078" y="0"/>
                  </a:moveTo>
                  <a:lnTo>
                    <a:pt x="818157" y="406400"/>
                  </a:lnTo>
                  <a:lnTo>
                    <a:pt x="409078" y="812800"/>
                  </a:lnTo>
                  <a:lnTo>
                    <a:pt x="0" y="406400"/>
                  </a:lnTo>
                  <a:lnTo>
                    <a:pt x="409078" y="0"/>
                  </a:lnTo>
                  <a:close/>
                </a:path>
              </a:pathLst>
            </a:custGeom>
            <a:ln w="38100" cap="sq">
              <a:solidFill>
                <a:srgbClr val="FFC178"/>
              </a:solidFill>
              <a:prstDash val="solid"/>
              <a:miter/>
            </a:ln>
          </p:spPr>
        </p:sp>
        <p:sp>
          <p:nvSpPr>
            <p:cNvPr name="TextBox 5" id="5"/>
            <p:cNvSpPr txBox="true"/>
            <p:nvPr/>
          </p:nvSpPr>
          <p:spPr>
            <a:xfrm>
              <a:off x="140621" y="92075"/>
              <a:ext cx="536915" cy="581025"/>
            </a:xfrm>
            <a:prstGeom prst="rect">
              <a:avLst/>
            </a:prstGeom>
          </p:spPr>
          <p:txBody>
            <a:bodyPr anchor="ctr" rtlCol="false" tIns="50800" lIns="50800" bIns="50800" rIns="50800"/>
            <a:lstStyle/>
            <a:p>
              <a:pPr algn="ctr">
                <a:lnSpc>
                  <a:spcPts val="3220"/>
                </a:lnSpc>
              </a:pPr>
            </a:p>
          </p:txBody>
        </p:sp>
      </p:grpSp>
      <p:grpSp>
        <p:nvGrpSpPr>
          <p:cNvPr name="Group 6" id="6"/>
          <p:cNvGrpSpPr/>
          <p:nvPr/>
        </p:nvGrpSpPr>
        <p:grpSpPr>
          <a:xfrm rot="0">
            <a:off x="-2546859" y="2419607"/>
            <a:ext cx="6240775" cy="624077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solidFill>
              <a:srgbClr val="FF8A00"/>
            </a:solidFill>
          </p:spPr>
        </p:sp>
        <p:sp>
          <p:nvSpPr>
            <p:cNvPr name="TextBox 8" id="8"/>
            <p:cNvSpPr txBox="true"/>
            <p:nvPr/>
          </p:nvSpPr>
          <p:spPr>
            <a:xfrm>
              <a:off x="139700" y="92075"/>
              <a:ext cx="533400" cy="581025"/>
            </a:xfrm>
            <a:prstGeom prst="rect">
              <a:avLst/>
            </a:prstGeom>
          </p:spPr>
          <p:txBody>
            <a:bodyPr anchor="ctr" rtlCol="false" tIns="50800" lIns="50800" bIns="50800" rIns="50800"/>
            <a:lstStyle/>
            <a:p>
              <a:pPr algn="ctr">
                <a:lnSpc>
                  <a:spcPts val="3220"/>
                </a:lnSpc>
              </a:pPr>
            </a:p>
          </p:txBody>
        </p:sp>
      </p:grpSp>
      <p:grpSp>
        <p:nvGrpSpPr>
          <p:cNvPr name="Group 9" id="9"/>
          <p:cNvGrpSpPr/>
          <p:nvPr/>
        </p:nvGrpSpPr>
        <p:grpSpPr>
          <a:xfrm rot="0">
            <a:off x="15920754" y="7707075"/>
            <a:ext cx="2622438" cy="2622438"/>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solidFill>
              <a:srgbClr val="FF8A00"/>
            </a:solidFill>
          </p:spPr>
        </p:sp>
        <p:sp>
          <p:nvSpPr>
            <p:cNvPr name="TextBox 11" id="11"/>
            <p:cNvSpPr txBox="true"/>
            <p:nvPr/>
          </p:nvSpPr>
          <p:spPr>
            <a:xfrm>
              <a:off x="139700" y="92075"/>
              <a:ext cx="533400" cy="581025"/>
            </a:xfrm>
            <a:prstGeom prst="rect">
              <a:avLst/>
            </a:prstGeom>
          </p:spPr>
          <p:txBody>
            <a:bodyPr anchor="ctr" rtlCol="false" tIns="50800" lIns="50800" bIns="50800" rIns="50800"/>
            <a:lstStyle/>
            <a:p>
              <a:pPr algn="ctr">
                <a:lnSpc>
                  <a:spcPts val="3220"/>
                </a:lnSpc>
              </a:pPr>
            </a:p>
          </p:txBody>
        </p:sp>
      </p:grpSp>
      <p:sp>
        <p:nvSpPr>
          <p:cNvPr name="TextBox 12" id="12"/>
          <p:cNvSpPr txBox="true"/>
          <p:nvPr/>
        </p:nvSpPr>
        <p:spPr>
          <a:xfrm rot="0">
            <a:off x="1672478" y="650902"/>
            <a:ext cx="5083025" cy="533400"/>
          </a:xfrm>
          <a:prstGeom prst="rect">
            <a:avLst/>
          </a:prstGeom>
        </p:spPr>
        <p:txBody>
          <a:bodyPr anchor="t" rtlCol="false" tIns="0" lIns="0" bIns="0" rIns="0">
            <a:spAutoFit/>
          </a:bodyPr>
          <a:lstStyle/>
          <a:p>
            <a:pPr algn="l" marL="0" indent="0" lvl="0">
              <a:lnSpc>
                <a:spcPts val="2100"/>
              </a:lnSpc>
              <a:spcBef>
                <a:spcPct val="0"/>
              </a:spcBef>
            </a:pPr>
            <a:r>
              <a:rPr lang="en-US" sz="1500" spc="150">
                <a:solidFill>
                  <a:srgbClr val="FFFFFF"/>
                </a:solidFill>
                <a:latin typeface="Duru Sans"/>
                <a:ea typeface="Duru Sans"/>
                <a:cs typeface="Duru Sans"/>
                <a:sym typeface="Duru Sans"/>
              </a:rPr>
              <a:t>FUTURE INTERNS – SALES ANALYSIS PROJECT</a:t>
            </a:r>
          </a:p>
        </p:txBody>
      </p:sp>
      <p:grpSp>
        <p:nvGrpSpPr>
          <p:cNvPr name="Group 13" id="13"/>
          <p:cNvGrpSpPr/>
          <p:nvPr/>
        </p:nvGrpSpPr>
        <p:grpSpPr>
          <a:xfrm rot="0">
            <a:off x="6755502" y="6612352"/>
            <a:ext cx="10768492" cy="2923352"/>
            <a:chOff x="0" y="0"/>
            <a:chExt cx="2831154" cy="768581"/>
          </a:xfrm>
        </p:grpSpPr>
        <p:sp>
          <p:nvSpPr>
            <p:cNvPr name="Freeform 14" id="14"/>
            <p:cNvSpPr/>
            <p:nvPr/>
          </p:nvSpPr>
          <p:spPr>
            <a:xfrm flipH="false" flipV="false" rot="0">
              <a:off x="0" y="0"/>
              <a:ext cx="2831154" cy="768581"/>
            </a:xfrm>
            <a:custGeom>
              <a:avLst/>
              <a:gdLst/>
              <a:ahLst/>
              <a:cxnLst/>
              <a:rect r="r" b="b" t="t" l="l"/>
              <a:pathLst>
                <a:path h="768581" w="2831154">
                  <a:moveTo>
                    <a:pt x="0" y="0"/>
                  </a:moveTo>
                  <a:lnTo>
                    <a:pt x="2831154" y="0"/>
                  </a:lnTo>
                  <a:lnTo>
                    <a:pt x="2831154" y="768581"/>
                  </a:lnTo>
                  <a:lnTo>
                    <a:pt x="0" y="768581"/>
                  </a:lnTo>
                  <a:close/>
                </a:path>
              </a:pathLst>
            </a:custGeom>
            <a:solidFill>
              <a:srgbClr val="FFFFFF"/>
            </a:solidFill>
          </p:spPr>
        </p:sp>
        <p:sp>
          <p:nvSpPr>
            <p:cNvPr name="TextBox 15" id="15"/>
            <p:cNvSpPr txBox="true"/>
            <p:nvPr/>
          </p:nvSpPr>
          <p:spPr>
            <a:xfrm>
              <a:off x="0" y="-47625"/>
              <a:ext cx="2831154" cy="816206"/>
            </a:xfrm>
            <a:prstGeom prst="rect">
              <a:avLst/>
            </a:prstGeom>
          </p:spPr>
          <p:txBody>
            <a:bodyPr anchor="ctr" rtlCol="false" tIns="47058" lIns="47058" bIns="47058" rIns="47058"/>
            <a:lstStyle/>
            <a:p>
              <a:pPr algn="ctr">
                <a:lnSpc>
                  <a:spcPts val="3220"/>
                </a:lnSpc>
              </a:pPr>
            </a:p>
          </p:txBody>
        </p:sp>
      </p:grpSp>
      <p:sp>
        <p:nvSpPr>
          <p:cNvPr name="TextBox 16" id="16"/>
          <p:cNvSpPr txBox="true"/>
          <p:nvPr/>
        </p:nvSpPr>
        <p:spPr>
          <a:xfrm rot="0">
            <a:off x="10639837" y="1127152"/>
            <a:ext cx="6592136" cy="5193935"/>
          </a:xfrm>
          <a:prstGeom prst="rect">
            <a:avLst/>
          </a:prstGeom>
        </p:spPr>
        <p:txBody>
          <a:bodyPr anchor="t" rtlCol="false" tIns="0" lIns="0" bIns="0" rIns="0">
            <a:spAutoFit/>
          </a:bodyPr>
          <a:lstStyle/>
          <a:p>
            <a:pPr algn="just">
              <a:lnSpc>
                <a:spcPts val="2792"/>
              </a:lnSpc>
            </a:pPr>
            <a:r>
              <a:rPr lang="en-US" sz="1745" spc="87">
                <a:solidFill>
                  <a:srgbClr val="FFFFFF"/>
                </a:solidFill>
                <a:latin typeface="Duru Sans"/>
                <a:ea typeface="Duru Sans"/>
                <a:cs typeface="Duru Sans"/>
                <a:sym typeface="Duru Sans"/>
              </a:rPr>
              <a:t>The business should focus on promoting high-performing products, especially in the Technology category, as it contributes the highest revenue. Expanding operations and marketing efforts in the West region can further improve overall sales performance due to its strong market presence. Additionally, improving strategies for Furniture and Office Supplies categories can help increase their contribution.</a:t>
            </a:r>
          </a:p>
          <a:p>
            <a:pPr algn="just">
              <a:lnSpc>
                <a:spcPts val="2792"/>
              </a:lnSpc>
            </a:pPr>
          </a:p>
          <a:p>
            <a:pPr algn="just" marL="0" indent="0" lvl="0">
              <a:lnSpc>
                <a:spcPts val="2792"/>
              </a:lnSpc>
            </a:pPr>
            <a:r>
              <a:rPr lang="en-US" sz="1745" spc="87">
                <a:solidFill>
                  <a:srgbClr val="FFFFFF"/>
                </a:solidFill>
                <a:latin typeface="Duru Sans"/>
                <a:ea typeface="Duru Sans"/>
                <a:cs typeface="Duru Sans"/>
                <a:sym typeface="Duru Sans"/>
              </a:rPr>
              <a:t>It is also important to analyze cost and pricing strategies to improve profit margins, particularly for products with high sales but low profit. Maintaining consistent marketing and sales strategies will support steady and sustainable business growth.</a:t>
            </a:r>
          </a:p>
        </p:txBody>
      </p:sp>
      <p:sp>
        <p:nvSpPr>
          <p:cNvPr name="TextBox 17" id="17"/>
          <p:cNvSpPr txBox="true"/>
          <p:nvPr/>
        </p:nvSpPr>
        <p:spPr>
          <a:xfrm rot="0">
            <a:off x="7047524" y="6849510"/>
            <a:ext cx="9277470" cy="2242058"/>
          </a:xfrm>
          <a:prstGeom prst="rect">
            <a:avLst/>
          </a:prstGeom>
        </p:spPr>
        <p:txBody>
          <a:bodyPr anchor="t" rtlCol="false" tIns="0" lIns="0" bIns="0" rIns="0">
            <a:spAutoFit/>
          </a:bodyPr>
          <a:lstStyle/>
          <a:p>
            <a:pPr algn="just">
              <a:lnSpc>
                <a:spcPts val="2541"/>
              </a:lnSpc>
            </a:pPr>
            <a:r>
              <a:rPr lang="en-US" sz="1694" spc="84">
                <a:solidFill>
                  <a:srgbClr val="000000"/>
                </a:solidFill>
                <a:latin typeface="Duru Sans"/>
                <a:ea typeface="Duru Sans"/>
                <a:cs typeface="Duru Sans"/>
                <a:sym typeface="Duru Sans"/>
              </a:rPr>
              <a:t>This analysis provides a clear understanding of business sales performance by highlighting revenue trends, category performance, and regional distribution. It identifies key strengths as well as areas that require improvement.</a:t>
            </a:r>
          </a:p>
          <a:p>
            <a:pPr algn="just">
              <a:lnSpc>
                <a:spcPts val="2541"/>
              </a:lnSpc>
            </a:pPr>
          </a:p>
          <a:p>
            <a:pPr algn="just" marL="0" indent="0" lvl="0">
              <a:lnSpc>
                <a:spcPts val="2541"/>
              </a:lnSpc>
            </a:pPr>
            <a:r>
              <a:rPr lang="en-US" sz="1694" spc="84">
                <a:solidFill>
                  <a:srgbClr val="000000"/>
                </a:solidFill>
                <a:latin typeface="Duru Sans"/>
                <a:ea typeface="Duru Sans"/>
                <a:cs typeface="Duru Sans"/>
                <a:sym typeface="Duru Sans"/>
              </a:rPr>
              <a:t>Overall, the insights and recommendations can help the business make informed decisions, improve profitability, and achieve long-term growth.</a:t>
            </a:r>
          </a:p>
        </p:txBody>
      </p:sp>
      <p:sp>
        <p:nvSpPr>
          <p:cNvPr name="TextBox 18" id="18"/>
          <p:cNvSpPr txBox="true"/>
          <p:nvPr/>
        </p:nvSpPr>
        <p:spPr>
          <a:xfrm rot="0">
            <a:off x="1213318" y="1968764"/>
            <a:ext cx="7930682" cy="3036570"/>
          </a:xfrm>
          <a:prstGeom prst="rect">
            <a:avLst/>
          </a:prstGeom>
        </p:spPr>
        <p:txBody>
          <a:bodyPr anchor="t" rtlCol="false" tIns="0" lIns="0" bIns="0" rIns="0">
            <a:spAutoFit/>
          </a:bodyPr>
          <a:lstStyle/>
          <a:p>
            <a:pPr algn="just" marL="0" indent="0" lvl="0">
              <a:lnSpc>
                <a:spcPts val="7800"/>
              </a:lnSpc>
            </a:pPr>
            <a:r>
              <a:rPr lang="en-US" b="true" sz="7800" spc="624">
                <a:solidFill>
                  <a:srgbClr val="FFFFFF"/>
                </a:solidFill>
                <a:latin typeface="Josefin Sans Bold"/>
                <a:ea typeface="Josefin Sans Bold"/>
                <a:cs typeface="Josefin Sans Bold"/>
                <a:sym typeface="Josefin Sans Bold"/>
              </a:rPr>
              <a:t>RECOMMENDATION AND CONCLUSION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DAHF9uKLIOA</dc:identifier>
  <dcterms:modified xsi:type="dcterms:W3CDTF">2011-08-01T06:04:30Z</dcterms:modified>
  <cp:revision>1</cp:revision>
  <dc:title>Title: Analysis &amp; Insights</dc:title>
</cp:coreProperties>
</file>